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Lst>
  <p:sldSz cx="14630400" cy="82296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People in top-level navigation. The landing title is People Directory. No category is selected on the hub. The five categories are Leadership, Faculty, Staff, Scholars &amp; Fellows, and Students. Four columns on desktop adapt to smaller screens. Leadership comes first; everyone else follows alphabetically by surname. Show each person once. No inset hero or introductory photo. Screenshot uses the 40-profile NDT4 example.</a:t>
            </a:r>
          </a:p>
          <a:p/>
          <a:p>
            <a:r>
              <a:t>Source / example: https://prugamba-nd.github.io/people-hub-mockup/screens/40/</a:t>
            </a:r>
          </a:p>
          <a:p>
            <a:r>
              <a:t>Illustrative institute mockups. The underlying website components use NDT4. Screenshots may show fictional people; public profile examples cite their sources on the linked pages.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these thresholds for the main directory, categories, and subcategories. Up to 24: all entries on one page, no pagination. 25–40: 24 per page, native pagination below the grid. More than 40: same pagination plus scoped search and relevant filters. 40 means two pages (24 and 16); 60 means three pages (24, 24, and 12). Screenshots intentionally show top-of-page and bottom-of-list excerpts rather than shrinking a whole long page. The 24-record illustration is rendered using the native NDT4 40-profile example reduced locally to 24 records for this deck. No live page was changed.</a:t>
            </a:r>
          </a:p>
          <a:p/>
          <a:p>
            <a:r>
              <a:t>Source / example: https://prugamba-nd.github.io/people-hub-mockup/screens/</a:t>
            </a:r>
          </a:p>
          <a:p>
            <a:r>
              <a:t>Illustrative institute mockups. The underlying website components use NDT4. Screenshots may show fictional people; public profile examples cite their sources on the linked pages.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category opens a dedicated page, with one title and no lede or additional section headings. The default group is implicit: Faculty displays core affiliated faculty. Additional groups appear only beneath the selected parent. This capture removes the old extra Core Affiliated Faculty heading and sorts profiles by surname locally to illustrate the proposed standard; the live category example may still contain it. Parent defaults: Leadership=institute leadership; Faculty=core affiliated faculty; Staff=institute staff; Scholars &amp; Fellows=visiting scholars and fellows; Students=undergraduate and graduate, excluding PhD. The reviewed draft also lists PhDs on the market under Scholars &amp; Fellows; retain for institute feedback.</a:t>
            </a:r>
          </a:p>
          <a:p/>
          <a:p>
            <a:r>
              <a:t>Source / example: https://prugamba-nd.github.io/people-hub-mockup/faculty/</a:t>
            </a:r>
          </a:p>
          <a:p>
            <a:r>
              <a:t>Illustrative institute mockups. The underlying website components use NDT4. Screenshots may show fictional people; public profile examples cite their sources on the linked pages.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When the full biography is maintained on the Keough School website, the directory card links directly to that profile. Do not create an intermediate institute biography page. NDT4 supplies the external-link arrow automatically for external card URLs. The public school example is Scott Appleby; the card’s link and photo source are recorded in the prototype.</a:t>
            </a:r>
          </a:p>
          <a:p/>
          <a:p>
            <a:r>
              <a:t>Source / example: https://prugamba-nd.github.io/people-hub-mockup/profile-examples/external-profile/</a:t>
            </a:r>
          </a:p>
          <a:p>
            <a:r>
              <a:t>Illustrative institute mockups. The underlying website components use NDT4. Screenshots may show fictional people; public profile examples cite their sources on the linked pages.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the native biography layout shown on the Ann Firth page: name and role at the top, biography at left, portrait and contact details at right. The institute maintains the full biography. This example uses fictional Maren Okafor and reserved example.org contact details. Layout reference: https://president.nd.edu/about/leadership-and-staff/ann-firth/</a:t>
            </a:r>
          </a:p>
          <a:p/>
          <a:p>
            <a:r>
              <a:t>Source / example: https://prugamba-nd.github.io/people-hub-mockup/profile-examples/full-bio/</a:t>
            </a:r>
          </a:p>
          <a:p>
            <a:r>
              <a:t>Illustrative institute mockups. The underlying website components use NDT4. Screenshots may show fictional people; public profile examples cite their sources on the linked pages.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the same native biography layout. Keep the local text short and specific to the institute relationship. Retain office and email beneath the portrait. Link the button to the full biography maintained outside the Keough School website. The example uses Daniel Philpott’s public department profile. The complete biography, publications and contact information are maintained by the department; the local text explains the institute connection.</a:t>
            </a:r>
          </a:p>
          <a:p/>
          <a:p>
            <a:r>
              <a:t>Source / example: https://prugamba-nd.github.io/people-hub-mockup/profile-examples/abridged-bio/</a:t>
            </a:r>
          </a:p>
          <a:p>
            <a:r>
              <a:t>Illustrative institute mockups. The underlying website components use NDT4. Screenshots may show fictional people; public profile examples cite their sources on the linked pages.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these for historical groups whose current biographies the institute cannot maintain, such as former visiting professors. Names only or images and names; entries are not linked by default and do not require a local biography. Do not reproduce biographies your team cannot keep current. Check basic accuracy of names and historical affiliation. No separate pagination threshold for simple historical lists is established by this proposal. Both examples use fictional names. Image-and-name example: https://prugamba-nd.github.io/people-hub-mockup/profile-examples/images-and-names/</a:t>
            </a:r>
          </a:p>
          <a:p/>
          <a:p>
            <a:r>
              <a:t>Source / example: https://prugamba-nd.github.io/people-hub-mockup/profile-examples/names-only/</a:t>
            </a:r>
          </a:p>
          <a:p>
            <a:r>
              <a:t>Illustrative institute mockups. The underlying website components use NDT4. Screenshots may show fictional people; public profile examples cite their sources on the linked pages.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prugamba-nd.github.io/people-hub-mockup/screens/40/" TargetMode="External"/><Relationship Id="rId3" Type="http://schemas.openxmlformats.org/officeDocument/2006/relationships/notesSlide" Target="../notesSlides/notesSlide1.xml"/><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prugamba-nd.github.io/people-hub-mockup/screens/" TargetMode="External"/><Relationship Id="rId3" Type="http://schemas.openxmlformats.org/officeDocument/2006/relationships/notesSlide" Target="../notesSlides/notesSlide2.xml"/><Relationship Id="rId4" Type="http://schemas.openxmlformats.org/officeDocument/2006/relationships/image" Target="../media/image2.png"/><Relationship Id="rId5" Type="http://schemas.openxmlformats.org/officeDocument/2006/relationships/hyperlink" Target="https://prugamba-nd.github.io/people-hub-mockup/screens/24/" TargetMode="External"/><Relationship Id="rId6" Type="http://schemas.openxmlformats.org/officeDocument/2006/relationships/image" Target="../media/image3.png"/><Relationship Id="rId7" Type="http://schemas.openxmlformats.org/officeDocument/2006/relationships/hyperlink" Target="https://prugamba-nd.github.io/people-hub-mockup/screens/40/" TargetMode="External"/><Relationship Id="rId8" Type="http://schemas.openxmlformats.org/officeDocument/2006/relationships/image" Target="../media/image4.png"/><Relationship Id="rId9" Type="http://schemas.openxmlformats.org/officeDocument/2006/relationships/image" Target="../media/image5.png"/><Relationship Id="rId10" Type="http://schemas.openxmlformats.org/officeDocument/2006/relationships/hyperlink" Target="https://prugamba-nd.github.io/people-hub-mockup/screens/60/" TargetMode="External"/><Relationship Id="rId11" Type="http://schemas.openxmlformats.org/officeDocument/2006/relationships/image" Target="../media/image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prugamba-nd.github.io/people-hub-mockup/faculty/" TargetMode="External"/><Relationship Id="rId3" Type="http://schemas.openxmlformats.org/officeDocument/2006/relationships/notesSlide" Target="../notesSlides/notesSlide3.xml"/><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prugamba-nd.github.io/people-hub-mockup/profile-examples/external-profile/" TargetMode="External"/><Relationship Id="rId3" Type="http://schemas.openxmlformats.org/officeDocument/2006/relationships/notesSlide" Target="../notesSlides/notesSlide4.xml"/><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prugamba-nd.github.io/people-hub-mockup/profile-examples/full-bio/" TargetMode="External"/><Relationship Id="rId3" Type="http://schemas.openxmlformats.org/officeDocument/2006/relationships/notesSlide" Target="../notesSlides/notesSlide5.xml"/><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prugamba-nd.github.io/people-hub-mockup/profile-examples/abridged-bio/" TargetMode="External"/><Relationship Id="rId3" Type="http://schemas.openxmlformats.org/officeDocument/2006/relationships/notesSlide" Target="../notesSlides/notesSlide6.xml"/><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prugamba-nd.github.io/people-hub-mockup/profile-examples/names-only/" TargetMode="External"/><Relationship Id="rId3" Type="http://schemas.openxmlformats.org/officeDocument/2006/relationships/notesSlide" Target="../notesSlides/notesSlide7.xml"/><Relationship Id="rId4" Type="http://schemas.openxmlformats.org/officeDocument/2006/relationships/image" Target="../media/image11.png"/><Relationship Id="rId5" Type="http://schemas.openxmlformats.org/officeDocument/2006/relationships/image" Target="../media/image12.png"/><Relationship Id="rId6" Type="http://schemas.openxmlformats.org/officeDocument/2006/relationships/hyperlink" Target="https://prugamba-nd.github.io/people-hub-mockup/profile-examples/images-and-names/"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00" cy="50292"/>
          </a:xfrm>
          <a:prstGeom prst="rect">
            <a:avLst/>
          </a:prstGeom>
          <a:solidFill>
            <a:srgbClr val="AE91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13716000" cy="182880"/>
          </a:xfrm>
          <a:prstGeom prst="rect">
            <a:avLst/>
          </a:prstGeom>
          <a:noFill/>
        </p:spPr>
        <p:txBody>
          <a:bodyPr wrap="square" lIns="0" rIns="0" tIns="0" bIns="0" anchor="t">
            <a:spAutoFit/>
          </a:bodyPr>
          <a:lstStyle/>
          <a:p>
            <a:pPr>
              <a:lnSpc>
                <a:spcPct val="115000"/>
              </a:lnSpc>
              <a:spcAft>
                <a:spcPts val="0"/>
              </a:spcAft>
            </a:pPr>
            <a:r>
              <a:rPr sz="900" b="1">
                <a:solidFill>
                  <a:srgbClr val="52616D"/>
                </a:solidFill>
                <a:latin typeface="Arial"/>
              </a:rPr>
              <a:t>PROPOSED STANDARD  /  INSTITUTE PEOPLE PAGES</a:t>
            </a:r>
          </a:p>
        </p:txBody>
      </p:sp>
      <p:sp>
        <p:nvSpPr>
          <p:cNvPr id="4" name="TextBox 3"/>
          <p:cNvSpPr txBox="1"/>
          <p:nvPr/>
        </p:nvSpPr>
        <p:spPr>
          <a:xfrm>
            <a:off x="457200" y="502920"/>
            <a:ext cx="13716000" cy="548640"/>
          </a:xfrm>
          <a:prstGeom prst="rect">
            <a:avLst/>
          </a:prstGeom>
          <a:noFill/>
        </p:spPr>
        <p:txBody>
          <a:bodyPr wrap="square" lIns="0" rIns="0" tIns="0" bIns="0" anchor="t">
            <a:spAutoFit/>
          </a:bodyPr>
          <a:lstStyle/>
          <a:p>
            <a:pPr>
              <a:lnSpc>
                <a:spcPct val="115000"/>
              </a:lnSpc>
              <a:spcAft>
                <a:spcPts val="0"/>
              </a:spcAft>
            </a:pPr>
            <a:r>
              <a:rPr sz="3000" b="1">
                <a:solidFill>
                  <a:srgbClr val="0C2340"/>
                </a:solidFill>
                <a:latin typeface="Arial"/>
              </a:rPr>
              <a:t>People opens the directory</a:t>
            </a:r>
          </a:p>
        </p:txBody>
      </p:sp>
      <p:sp>
        <p:nvSpPr>
          <p:cNvPr id="5" name="TextBox 4"/>
          <p:cNvSpPr txBox="1"/>
          <p:nvPr/>
        </p:nvSpPr>
        <p:spPr>
          <a:xfrm>
            <a:off x="457200" y="7973568"/>
            <a:ext cx="9144000" cy="164592"/>
          </a:xfrm>
          <a:prstGeom prst="rect">
            <a:avLst/>
          </a:prstGeom>
          <a:noFill/>
        </p:spPr>
        <p:txBody>
          <a:bodyPr wrap="square" lIns="0" rIns="0" tIns="0" bIns="0" anchor="t">
            <a:spAutoFit/>
          </a:bodyPr>
          <a:lstStyle/>
          <a:p>
            <a:pPr>
              <a:lnSpc>
                <a:spcPct val="115000"/>
              </a:lnSpc>
              <a:spcAft>
                <a:spcPts val="0"/>
              </a:spcAft>
            </a:pPr>
            <a:r>
              <a:rPr sz="900" b="0">
                <a:solidFill>
                  <a:srgbClr val="52616D"/>
                </a:solidFill>
                <a:latin typeface="Arial"/>
              </a:rPr>
              <a:t>DRAFT FOR FEEDBACK  ·  Start here</a:t>
            </a:r>
          </a:p>
        </p:txBody>
      </p:sp>
      <p:sp>
        <p:nvSpPr>
          <p:cNvPr id="6" name="TextBox 5"/>
          <p:cNvSpPr txBox="1"/>
          <p:nvPr/>
        </p:nvSpPr>
        <p:spPr>
          <a:xfrm>
            <a:off x="11338560" y="7973568"/>
            <a:ext cx="2377440" cy="164592"/>
          </a:xfrm>
          <a:prstGeom prst="rect">
            <a:avLst/>
          </a:prstGeom>
          <a:noFill/>
        </p:spPr>
        <p:txBody>
          <a:bodyPr wrap="square" lIns="0" rIns="0" tIns="0" bIns="0" anchor="t">
            <a:spAutoFit/>
          </a:bodyPr>
          <a:lstStyle/>
          <a:p>
            <a:pPr>
              <a:lnSpc>
                <a:spcPct val="115000"/>
              </a:lnSpc>
              <a:spcAft>
                <a:spcPts val="0"/>
              </a:spcAft>
            </a:pPr>
            <a:r>
              <a:rPr sz="900" b="0">
                <a:solidFill>
                  <a:srgbClr val="52616D"/>
                </a:solidFill>
                <a:latin typeface="Arial"/>
                <a:hlinkClick r:id="rId2"/>
              </a:rPr>
              <a:t>Open the live example</a:t>
            </a:r>
          </a:p>
        </p:txBody>
      </p:sp>
      <p:sp>
        <p:nvSpPr>
          <p:cNvPr id="7" name="TextBox 6"/>
          <p:cNvSpPr txBox="1"/>
          <p:nvPr/>
        </p:nvSpPr>
        <p:spPr>
          <a:xfrm>
            <a:off x="13944600" y="7973568"/>
            <a:ext cx="457200" cy="164592"/>
          </a:xfrm>
          <a:prstGeom prst="rect">
            <a:avLst/>
          </a:prstGeom>
          <a:noFill/>
        </p:spPr>
        <p:txBody>
          <a:bodyPr wrap="square" lIns="0" rIns="0" tIns="0" bIns="0" anchor="t">
            <a:spAutoFit/>
          </a:bodyPr>
          <a:lstStyle/>
          <a:p>
            <a:pPr>
              <a:lnSpc>
                <a:spcPct val="115000"/>
              </a:lnSpc>
              <a:spcAft>
                <a:spcPts val="0"/>
              </a:spcAft>
            </a:pPr>
            <a:r>
              <a:rPr sz="900" b="0">
                <a:solidFill>
                  <a:srgbClr val="52616D"/>
                </a:solidFill>
                <a:latin typeface="Arial"/>
              </a:rPr>
              <a:t>1 / 7</a:t>
            </a:r>
          </a:p>
        </p:txBody>
      </p:sp>
      <p:pic>
        <p:nvPicPr>
          <p:cNvPr id="8" name="Picture 7" descr="hub.png">
            <a:hlinkClick r:id="rId2"/>
          </p:cNvPr>
          <p:cNvPicPr>
            <a:picLocks noChangeAspect="1"/>
          </p:cNvPicPr>
          <p:nvPr/>
        </p:nvPicPr>
        <p:blipFill>
          <a:blip r:embed="rId4"/>
          <a:stretch>
            <a:fillRect/>
          </a:stretch>
        </p:blipFill>
        <p:spPr>
          <a:xfrm>
            <a:off x="457200" y="1143000"/>
            <a:ext cx="9738360" cy="6762750"/>
          </a:xfrm>
          <a:prstGeom prst="rect">
            <a:avLst/>
          </a:prstGeom>
        </p:spPr>
      </p:pic>
      <p:sp>
        <p:nvSpPr>
          <p:cNvPr id="9" name="Rectangle 8"/>
          <p:cNvSpPr/>
          <p:nvPr/>
        </p:nvSpPr>
        <p:spPr>
          <a:xfrm>
            <a:off x="457200" y="1143000"/>
            <a:ext cx="9738360" cy="6762750"/>
          </a:xfrm>
          <a:prstGeom prst="rect">
            <a:avLst/>
          </a:prstGeom>
          <a:noFill/>
          <a:ln w="7620">
            <a:solidFill>
              <a:srgbClr val="D5DBD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176386" y="1347692"/>
            <a:ext cx="657122" cy="464278"/>
          </a:xfrm>
          <a:prstGeom prst="rect">
            <a:avLst/>
          </a:prstGeom>
          <a:noFill/>
          <a:ln w="25400">
            <a:solidFill>
              <a:srgbClr val="AE91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6052942" y="1224248"/>
            <a:ext cx="310896" cy="310896"/>
          </a:xfrm>
          <a:prstGeom prst="ellipse">
            <a:avLst/>
          </a:prstGeom>
          <a:solidFill>
            <a:srgbClr val="0C234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Arial"/>
              </a:rPr>
              <a:t>1</a:t>
            </a:r>
          </a:p>
        </p:txBody>
      </p:sp>
      <p:sp>
        <p:nvSpPr>
          <p:cNvPr id="12" name="Rectangle 11"/>
          <p:cNvSpPr/>
          <p:nvPr/>
        </p:nvSpPr>
        <p:spPr>
          <a:xfrm>
            <a:off x="3103245" y="2750962"/>
            <a:ext cx="6637401" cy="558005"/>
          </a:xfrm>
          <a:prstGeom prst="rect">
            <a:avLst/>
          </a:prstGeom>
          <a:noFill/>
          <a:ln w="25400">
            <a:solidFill>
              <a:srgbClr val="AE91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2979801" y="2627518"/>
            <a:ext cx="310896" cy="310896"/>
          </a:xfrm>
          <a:prstGeom prst="ellipse">
            <a:avLst/>
          </a:prstGeom>
          <a:solidFill>
            <a:srgbClr val="0C234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Arial"/>
              </a:rPr>
              <a:t>2</a:t>
            </a:r>
          </a:p>
        </p:txBody>
      </p:sp>
      <p:sp>
        <p:nvSpPr>
          <p:cNvPr id="14" name="Rectangle 13"/>
          <p:cNvSpPr/>
          <p:nvPr/>
        </p:nvSpPr>
        <p:spPr>
          <a:xfrm>
            <a:off x="912114" y="2418214"/>
            <a:ext cx="1930527" cy="2295715"/>
          </a:xfrm>
          <a:prstGeom prst="rect">
            <a:avLst/>
          </a:prstGeom>
          <a:noFill/>
          <a:ln w="25400">
            <a:solidFill>
              <a:srgbClr val="AE91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788670" y="2294770"/>
            <a:ext cx="310896" cy="310896"/>
          </a:xfrm>
          <a:prstGeom prst="ellipse">
            <a:avLst/>
          </a:prstGeom>
          <a:solidFill>
            <a:srgbClr val="0C234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Arial"/>
              </a:rPr>
              <a:t>3</a:t>
            </a:r>
          </a:p>
        </p:txBody>
      </p:sp>
      <p:sp>
        <p:nvSpPr>
          <p:cNvPr id="16" name="Rectangle 15"/>
          <p:cNvSpPr/>
          <p:nvPr/>
        </p:nvSpPr>
        <p:spPr>
          <a:xfrm>
            <a:off x="3103245" y="4381102"/>
            <a:ext cx="6637401" cy="2194274"/>
          </a:xfrm>
          <a:prstGeom prst="rect">
            <a:avLst/>
          </a:prstGeom>
          <a:noFill/>
          <a:ln w="25400">
            <a:solidFill>
              <a:srgbClr val="AE91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2979801" y="4257658"/>
            <a:ext cx="310896" cy="310896"/>
          </a:xfrm>
          <a:prstGeom prst="ellipse">
            <a:avLst/>
          </a:prstGeom>
          <a:solidFill>
            <a:srgbClr val="0C234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Arial"/>
              </a:rPr>
              <a:t>4</a:t>
            </a:r>
          </a:p>
        </p:txBody>
      </p:sp>
      <p:sp>
        <p:nvSpPr>
          <p:cNvPr id="18" name="Oval 17"/>
          <p:cNvSpPr/>
          <p:nvPr/>
        </p:nvSpPr>
        <p:spPr>
          <a:xfrm>
            <a:off x="10497312" y="1527048"/>
            <a:ext cx="310896" cy="310896"/>
          </a:xfrm>
          <a:prstGeom prst="ellipse">
            <a:avLst/>
          </a:prstGeom>
          <a:solidFill>
            <a:srgbClr val="0C234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Arial"/>
              </a:rPr>
              <a:t>1</a:t>
            </a:r>
          </a:p>
        </p:txBody>
      </p:sp>
      <p:sp>
        <p:nvSpPr>
          <p:cNvPr id="19" name="TextBox 18"/>
          <p:cNvSpPr txBox="1"/>
          <p:nvPr/>
        </p:nvSpPr>
        <p:spPr>
          <a:xfrm>
            <a:off x="10972800" y="1554480"/>
            <a:ext cx="3200400" cy="502920"/>
          </a:xfrm>
          <a:prstGeom prst="rect">
            <a:avLst/>
          </a:prstGeom>
          <a:noFill/>
        </p:spPr>
        <p:txBody>
          <a:bodyPr wrap="square" lIns="0" rIns="0" tIns="0" bIns="0" anchor="t">
            <a:spAutoFit/>
          </a:bodyPr>
          <a:lstStyle/>
          <a:p>
            <a:pPr>
              <a:lnSpc>
                <a:spcPct val="115000"/>
              </a:lnSpc>
              <a:spcAft>
                <a:spcPts val="0"/>
              </a:spcAft>
            </a:pPr>
            <a:r>
              <a:rPr sz="1800" b="1">
                <a:solidFill>
                  <a:srgbClr val="0C2340"/>
                </a:solidFill>
                <a:latin typeface="Arial"/>
              </a:rPr>
              <a:t>People in the</a:t>
            </a:r>
          </a:p>
          <a:p>
            <a:pPr>
              <a:lnSpc>
                <a:spcPct val="115000"/>
              </a:lnSpc>
              <a:spcAft>
                <a:spcPts val="0"/>
              </a:spcAft>
            </a:pPr>
            <a:r>
              <a:rPr sz="1800" b="1">
                <a:solidFill>
                  <a:srgbClr val="0C2340"/>
                </a:solidFill>
                <a:latin typeface="Arial"/>
              </a:rPr>
              <a:t>main navigation</a:t>
            </a:r>
          </a:p>
        </p:txBody>
      </p:sp>
      <p:sp>
        <p:nvSpPr>
          <p:cNvPr id="20" name="Oval 19"/>
          <p:cNvSpPr/>
          <p:nvPr/>
        </p:nvSpPr>
        <p:spPr>
          <a:xfrm>
            <a:off x="10497312" y="2807208"/>
            <a:ext cx="310896" cy="310896"/>
          </a:xfrm>
          <a:prstGeom prst="ellipse">
            <a:avLst/>
          </a:prstGeom>
          <a:solidFill>
            <a:srgbClr val="0C234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Arial"/>
              </a:rPr>
              <a:t>2</a:t>
            </a:r>
          </a:p>
        </p:txBody>
      </p:sp>
      <p:sp>
        <p:nvSpPr>
          <p:cNvPr id="21" name="TextBox 20"/>
          <p:cNvSpPr txBox="1"/>
          <p:nvPr/>
        </p:nvSpPr>
        <p:spPr>
          <a:xfrm>
            <a:off x="10972800" y="2834640"/>
            <a:ext cx="3200400" cy="502920"/>
          </a:xfrm>
          <a:prstGeom prst="rect">
            <a:avLst/>
          </a:prstGeom>
          <a:noFill/>
        </p:spPr>
        <p:txBody>
          <a:bodyPr wrap="square" lIns="0" rIns="0" tIns="0" bIns="0" anchor="t">
            <a:spAutoFit/>
          </a:bodyPr>
          <a:lstStyle/>
          <a:p>
            <a:pPr>
              <a:lnSpc>
                <a:spcPct val="115000"/>
              </a:lnSpc>
              <a:spcAft>
                <a:spcPts val="0"/>
              </a:spcAft>
            </a:pPr>
            <a:r>
              <a:rPr sz="1800" b="1">
                <a:solidFill>
                  <a:srgbClr val="0C2340"/>
                </a:solidFill>
                <a:latin typeface="Arial"/>
              </a:rPr>
              <a:t>One clear title</a:t>
            </a:r>
          </a:p>
        </p:txBody>
      </p:sp>
      <p:sp>
        <p:nvSpPr>
          <p:cNvPr id="22" name="TextBox 21"/>
          <p:cNvSpPr txBox="1"/>
          <p:nvPr/>
        </p:nvSpPr>
        <p:spPr>
          <a:xfrm>
            <a:off x="10972800" y="3419856"/>
            <a:ext cx="3154680" cy="914400"/>
          </a:xfrm>
          <a:prstGeom prst="rect">
            <a:avLst/>
          </a:prstGeom>
          <a:noFill/>
        </p:spPr>
        <p:txBody>
          <a:bodyPr wrap="square" lIns="0" rIns="0" tIns="0" bIns="0" anchor="t">
            <a:spAutoFit/>
          </a:bodyPr>
          <a:lstStyle/>
          <a:p>
            <a:pPr>
              <a:lnSpc>
                <a:spcPct val="115000"/>
              </a:lnSpc>
              <a:spcAft>
                <a:spcPts val="0"/>
              </a:spcAft>
            </a:pPr>
            <a:r>
              <a:rPr sz="1400" b="0">
                <a:solidFill>
                  <a:srgbClr val="52616D"/>
                </a:solidFill>
                <a:latin typeface="Arial"/>
              </a:rPr>
              <a:t>People Directory</a:t>
            </a:r>
          </a:p>
        </p:txBody>
      </p:sp>
      <p:sp>
        <p:nvSpPr>
          <p:cNvPr id="23" name="Oval 22"/>
          <p:cNvSpPr/>
          <p:nvPr/>
        </p:nvSpPr>
        <p:spPr>
          <a:xfrm>
            <a:off x="10497312" y="3995928"/>
            <a:ext cx="310896" cy="310896"/>
          </a:xfrm>
          <a:prstGeom prst="ellipse">
            <a:avLst/>
          </a:prstGeom>
          <a:solidFill>
            <a:srgbClr val="0C234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Arial"/>
              </a:rPr>
              <a:t>3</a:t>
            </a:r>
          </a:p>
        </p:txBody>
      </p:sp>
      <p:sp>
        <p:nvSpPr>
          <p:cNvPr id="24" name="TextBox 23"/>
          <p:cNvSpPr txBox="1"/>
          <p:nvPr/>
        </p:nvSpPr>
        <p:spPr>
          <a:xfrm>
            <a:off x="10972800" y="4023360"/>
            <a:ext cx="3200400" cy="502920"/>
          </a:xfrm>
          <a:prstGeom prst="rect">
            <a:avLst/>
          </a:prstGeom>
          <a:noFill/>
        </p:spPr>
        <p:txBody>
          <a:bodyPr wrap="square" lIns="0" rIns="0" tIns="0" bIns="0" anchor="t">
            <a:spAutoFit/>
          </a:bodyPr>
          <a:lstStyle/>
          <a:p>
            <a:pPr>
              <a:lnSpc>
                <a:spcPct val="115000"/>
              </a:lnSpc>
              <a:spcAft>
                <a:spcPts val="0"/>
              </a:spcAft>
            </a:pPr>
            <a:r>
              <a:rPr sz="1800" b="1">
                <a:solidFill>
                  <a:srgbClr val="0C2340"/>
                </a:solidFill>
                <a:latin typeface="Arial"/>
              </a:rPr>
              <a:t>Five sidebar groups</a:t>
            </a:r>
          </a:p>
        </p:txBody>
      </p:sp>
      <p:sp>
        <p:nvSpPr>
          <p:cNvPr id="25" name="TextBox 24"/>
          <p:cNvSpPr txBox="1"/>
          <p:nvPr/>
        </p:nvSpPr>
        <p:spPr>
          <a:xfrm>
            <a:off x="10972800" y="4608576"/>
            <a:ext cx="3154680" cy="914400"/>
          </a:xfrm>
          <a:prstGeom prst="rect">
            <a:avLst/>
          </a:prstGeom>
          <a:noFill/>
        </p:spPr>
        <p:txBody>
          <a:bodyPr wrap="square" lIns="0" rIns="0" tIns="0" bIns="0" anchor="t">
            <a:spAutoFit/>
          </a:bodyPr>
          <a:lstStyle/>
          <a:p>
            <a:pPr>
              <a:lnSpc>
                <a:spcPct val="115000"/>
              </a:lnSpc>
              <a:spcAft>
                <a:spcPts val="0"/>
              </a:spcAft>
            </a:pPr>
            <a:r>
              <a:rPr sz="1400" b="0">
                <a:solidFill>
                  <a:srgbClr val="52616D"/>
                </a:solidFill>
                <a:latin typeface="Arial"/>
              </a:rPr>
              <a:t>None selected on the hub.</a:t>
            </a:r>
          </a:p>
        </p:txBody>
      </p:sp>
      <p:sp>
        <p:nvSpPr>
          <p:cNvPr id="26" name="Oval 25"/>
          <p:cNvSpPr/>
          <p:nvPr/>
        </p:nvSpPr>
        <p:spPr>
          <a:xfrm>
            <a:off x="10497312" y="5367528"/>
            <a:ext cx="310896" cy="310896"/>
          </a:xfrm>
          <a:prstGeom prst="ellipse">
            <a:avLst/>
          </a:prstGeom>
          <a:solidFill>
            <a:srgbClr val="0C234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Arial"/>
              </a:rPr>
              <a:t>4</a:t>
            </a:r>
          </a:p>
        </p:txBody>
      </p:sp>
      <p:sp>
        <p:nvSpPr>
          <p:cNvPr id="27" name="TextBox 26"/>
          <p:cNvSpPr txBox="1"/>
          <p:nvPr/>
        </p:nvSpPr>
        <p:spPr>
          <a:xfrm>
            <a:off x="10972800" y="5394960"/>
            <a:ext cx="3200400" cy="502920"/>
          </a:xfrm>
          <a:prstGeom prst="rect">
            <a:avLst/>
          </a:prstGeom>
          <a:noFill/>
        </p:spPr>
        <p:txBody>
          <a:bodyPr wrap="square" lIns="0" rIns="0" tIns="0" bIns="0" anchor="t">
            <a:spAutoFit/>
          </a:bodyPr>
          <a:lstStyle/>
          <a:p>
            <a:pPr>
              <a:lnSpc>
                <a:spcPct val="115000"/>
              </a:lnSpc>
              <a:spcAft>
                <a:spcPts val="0"/>
              </a:spcAft>
            </a:pPr>
            <a:r>
              <a:rPr sz="1800" b="1">
                <a:solidFill>
                  <a:srgbClr val="0C2340"/>
                </a:solidFill>
                <a:latin typeface="Arial"/>
              </a:rPr>
              <a:t>Four columns</a:t>
            </a:r>
          </a:p>
        </p:txBody>
      </p:sp>
      <p:sp>
        <p:nvSpPr>
          <p:cNvPr id="28" name="TextBox 27"/>
          <p:cNvSpPr txBox="1"/>
          <p:nvPr/>
        </p:nvSpPr>
        <p:spPr>
          <a:xfrm>
            <a:off x="10972800" y="5980176"/>
            <a:ext cx="3154680" cy="914400"/>
          </a:xfrm>
          <a:prstGeom prst="rect">
            <a:avLst/>
          </a:prstGeom>
          <a:noFill/>
        </p:spPr>
        <p:txBody>
          <a:bodyPr wrap="square" lIns="0" rIns="0" tIns="0" bIns="0" anchor="t">
            <a:spAutoFit/>
          </a:bodyPr>
          <a:lstStyle/>
          <a:p>
            <a:pPr>
              <a:lnSpc>
                <a:spcPct val="115000"/>
              </a:lnSpc>
              <a:spcAft>
                <a:spcPts val="0"/>
              </a:spcAft>
            </a:pPr>
            <a:r>
              <a:rPr sz="1400" b="0">
                <a:solidFill>
                  <a:srgbClr val="52616D"/>
                </a:solidFill>
                <a:latin typeface="Arial"/>
              </a:rPr>
              <a:t>Leadership first.</a:t>
            </a:r>
          </a:p>
          <a:p>
            <a:pPr>
              <a:lnSpc>
                <a:spcPct val="115000"/>
              </a:lnSpc>
              <a:spcAft>
                <a:spcPts val="0"/>
              </a:spcAft>
            </a:pPr>
            <a:r>
              <a:rPr sz="1400" b="0">
                <a:solidFill>
                  <a:srgbClr val="52616D"/>
                </a:solidFill>
                <a:latin typeface="Arial"/>
              </a:rPr>
              <a:t>Then surname A–Z.</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00" cy="50292"/>
          </a:xfrm>
          <a:prstGeom prst="rect">
            <a:avLst/>
          </a:prstGeom>
          <a:solidFill>
            <a:srgbClr val="AE91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13716000" cy="182880"/>
          </a:xfrm>
          <a:prstGeom prst="rect">
            <a:avLst/>
          </a:prstGeom>
          <a:noFill/>
        </p:spPr>
        <p:txBody>
          <a:bodyPr wrap="square" lIns="0" rIns="0" tIns="0" bIns="0" anchor="t">
            <a:spAutoFit/>
          </a:bodyPr>
          <a:lstStyle/>
          <a:p>
            <a:pPr>
              <a:lnSpc>
                <a:spcPct val="115000"/>
              </a:lnSpc>
              <a:spcAft>
                <a:spcPts val="0"/>
              </a:spcAft>
            </a:pPr>
            <a:r>
              <a:rPr sz="900" b="1">
                <a:solidFill>
                  <a:srgbClr val="52616D"/>
                </a:solidFill>
                <a:latin typeface="Arial"/>
              </a:rPr>
              <a:t>PROPOSED STANDARD  /  INSTITUTE PEOPLE PAGES</a:t>
            </a:r>
          </a:p>
        </p:txBody>
      </p:sp>
      <p:sp>
        <p:nvSpPr>
          <p:cNvPr id="4" name="TextBox 3"/>
          <p:cNvSpPr txBox="1"/>
          <p:nvPr/>
        </p:nvSpPr>
        <p:spPr>
          <a:xfrm>
            <a:off x="457200" y="502920"/>
            <a:ext cx="13716000" cy="548640"/>
          </a:xfrm>
          <a:prstGeom prst="rect">
            <a:avLst/>
          </a:prstGeom>
          <a:noFill/>
        </p:spPr>
        <p:txBody>
          <a:bodyPr wrap="square" lIns="0" rIns="0" tIns="0" bIns="0" anchor="t">
            <a:spAutoFit/>
          </a:bodyPr>
          <a:lstStyle/>
          <a:p>
            <a:pPr>
              <a:lnSpc>
                <a:spcPct val="115000"/>
              </a:lnSpc>
              <a:spcAft>
                <a:spcPts val="0"/>
              </a:spcAft>
            </a:pPr>
            <a:r>
              <a:rPr sz="3000" b="1">
                <a:solidFill>
                  <a:srgbClr val="0C2340"/>
                </a:solidFill>
                <a:latin typeface="Arial"/>
              </a:rPr>
              <a:t>The number of profiles determines the controls</a:t>
            </a:r>
          </a:p>
        </p:txBody>
      </p:sp>
      <p:sp>
        <p:nvSpPr>
          <p:cNvPr id="5" name="TextBox 4"/>
          <p:cNvSpPr txBox="1"/>
          <p:nvPr/>
        </p:nvSpPr>
        <p:spPr>
          <a:xfrm>
            <a:off x="457200" y="7973568"/>
            <a:ext cx="9144000" cy="164592"/>
          </a:xfrm>
          <a:prstGeom prst="rect">
            <a:avLst/>
          </a:prstGeom>
          <a:noFill/>
        </p:spPr>
        <p:txBody>
          <a:bodyPr wrap="square" lIns="0" rIns="0" tIns="0" bIns="0" anchor="t">
            <a:spAutoFit/>
          </a:bodyPr>
          <a:lstStyle/>
          <a:p>
            <a:pPr>
              <a:lnSpc>
                <a:spcPct val="115000"/>
              </a:lnSpc>
              <a:spcAft>
                <a:spcPts val="0"/>
              </a:spcAft>
            </a:pPr>
            <a:r>
              <a:rPr sz="900" b="0">
                <a:solidFill>
                  <a:srgbClr val="52616D"/>
                </a:solidFill>
                <a:latin typeface="Arial"/>
              </a:rPr>
              <a:t>DRAFT FOR FEEDBACK  ·  Directory + category listings</a:t>
            </a:r>
          </a:p>
        </p:txBody>
      </p:sp>
      <p:sp>
        <p:nvSpPr>
          <p:cNvPr id="6" name="TextBox 5"/>
          <p:cNvSpPr txBox="1"/>
          <p:nvPr/>
        </p:nvSpPr>
        <p:spPr>
          <a:xfrm>
            <a:off x="11338560" y="7973568"/>
            <a:ext cx="2377440" cy="164592"/>
          </a:xfrm>
          <a:prstGeom prst="rect">
            <a:avLst/>
          </a:prstGeom>
          <a:noFill/>
        </p:spPr>
        <p:txBody>
          <a:bodyPr wrap="square" lIns="0" rIns="0" tIns="0" bIns="0" anchor="t">
            <a:spAutoFit/>
          </a:bodyPr>
          <a:lstStyle/>
          <a:p>
            <a:pPr>
              <a:lnSpc>
                <a:spcPct val="115000"/>
              </a:lnSpc>
              <a:spcAft>
                <a:spcPts val="0"/>
              </a:spcAft>
            </a:pPr>
            <a:r>
              <a:rPr sz="900" b="0">
                <a:solidFill>
                  <a:srgbClr val="52616D"/>
                </a:solidFill>
                <a:latin typeface="Arial"/>
                <a:hlinkClick r:id="rId2"/>
              </a:rPr>
              <a:t>Open the live example</a:t>
            </a:r>
          </a:p>
        </p:txBody>
      </p:sp>
      <p:sp>
        <p:nvSpPr>
          <p:cNvPr id="7" name="TextBox 6"/>
          <p:cNvSpPr txBox="1"/>
          <p:nvPr/>
        </p:nvSpPr>
        <p:spPr>
          <a:xfrm>
            <a:off x="13944600" y="7973568"/>
            <a:ext cx="457200" cy="164592"/>
          </a:xfrm>
          <a:prstGeom prst="rect">
            <a:avLst/>
          </a:prstGeom>
          <a:noFill/>
        </p:spPr>
        <p:txBody>
          <a:bodyPr wrap="square" lIns="0" rIns="0" tIns="0" bIns="0" anchor="t">
            <a:spAutoFit/>
          </a:bodyPr>
          <a:lstStyle/>
          <a:p>
            <a:pPr>
              <a:lnSpc>
                <a:spcPct val="115000"/>
              </a:lnSpc>
              <a:spcAft>
                <a:spcPts val="0"/>
              </a:spcAft>
            </a:pPr>
            <a:r>
              <a:rPr sz="900" b="0">
                <a:solidFill>
                  <a:srgbClr val="52616D"/>
                </a:solidFill>
                <a:latin typeface="Arial"/>
              </a:rPr>
              <a:t>2 / 7</a:t>
            </a:r>
          </a:p>
        </p:txBody>
      </p:sp>
      <p:sp>
        <p:nvSpPr>
          <p:cNvPr id="8" name="TextBox 7"/>
          <p:cNvSpPr txBox="1"/>
          <p:nvPr/>
        </p:nvSpPr>
        <p:spPr>
          <a:xfrm>
            <a:off x="457200" y="1280160"/>
            <a:ext cx="4297680" cy="411480"/>
          </a:xfrm>
          <a:prstGeom prst="rect">
            <a:avLst/>
          </a:prstGeom>
          <a:noFill/>
        </p:spPr>
        <p:txBody>
          <a:bodyPr wrap="square" lIns="0" rIns="0" tIns="0" bIns="0" anchor="t">
            <a:spAutoFit/>
          </a:bodyPr>
          <a:lstStyle/>
          <a:p>
            <a:pPr>
              <a:lnSpc>
                <a:spcPct val="115000"/>
              </a:lnSpc>
              <a:spcAft>
                <a:spcPts val="0"/>
              </a:spcAft>
            </a:pPr>
            <a:r>
              <a:rPr sz="2600" b="1">
                <a:solidFill>
                  <a:srgbClr val="0C2340"/>
                </a:solidFill>
                <a:latin typeface="Arial"/>
              </a:rPr>
              <a:t>Up to 24 profiles</a:t>
            </a:r>
          </a:p>
        </p:txBody>
      </p:sp>
      <p:sp>
        <p:nvSpPr>
          <p:cNvPr id="9" name="TextBox 8"/>
          <p:cNvSpPr txBox="1"/>
          <p:nvPr/>
        </p:nvSpPr>
        <p:spPr>
          <a:xfrm>
            <a:off x="457200" y="1810512"/>
            <a:ext cx="4389120" cy="320040"/>
          </a:xfrm>
          <a:prstGeom prst="rect">
            <a:avLst/>
          </a:prstGeom>
          <a:noFill/>
        </p:spPr>
        <p:txBody>
          <a:bodyPr wrap="square" lIns="0" rIns="0" tIns="0" bIns="0" anchor="t">
            <a:spAutoFit/>
          </a:bodyPr>
          <a:lstStyle/>
          <a:p>
            <a:pPr>
              <a:lnSpc>
                <a:spcPct val="115000"/>
              </a:lnSpc>
              <a:spcAft>
                <a:spcPts val="0"/>
              </a:spcAft>
            </a:pPr>
            <a:r>
              <a:rPr sz="1400" b="0">
                <a:solidFill>
                  <a:srgbClr val="52616D"/>
                </a:solidFill>
                <a:latin typeface="Arial"/>
              </a:rPr>
              <a:t>All on one page</a:t>
            </a:r>
          </a:p>
        </p:txBody>
      </p:sp>
      <p:pic>
        <p:nvPicPr>
          <p:cNvPr id="10" name="Picture 9" descr="size-24-top.png">
            <a:hlinkClick r:id="rId5"/>
          </p:cNvPr>
          <p:cNvPicPr>
            <a:picLocks noChangeAspect="1"/>
          </p:cNvPicPr>
          <p:nvPr/>
        </p:nvPicPr>
        <p:blipFill>
          <a:blip r:embed="rId4"/>
          <a:stretch>
            <a:fillRect/>
          </a:stretch>
        </p:blipFill>
        <p:spPr>
          <a:xfrm>
            <a:off x="457200" y="2377440"/>
            <a:ext cx="4251960" cy="2253538"/>
          </a:xfrm>
          <a:prstGeom prst="rect">
            <a:avLst/>
          </a:prstGeom>
        </p:spPr>
      </p:pic>
      <p:sp>
        <p:nvSpPr>
          <p:cNvPr id="11" name="Rectangle 10"/>
          <p:cNvSpPr/>
          <p:nvPr/>
        </p:nvSpPr>
        <p:spPr>
          <a:xfrm>
            <a:off x="457200" y="2377440"/>
            <a:ext cx="4251960" cy="2253538"/>
          </a:xfrm>
          <a:prstGeom prst="rect">
            <a:avLst/>
          </a:prstGeom>
          <a:noFill/>
          <a:ln w="7620">
            <a:solidFill>
              <a:srgbClr val="D5DBD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5870448"/>
            <a:ext cx="4297680" cy="457200"/>
          </a:xfrm>
          <a:prstGeom prst="rect">
            <a:avLst/>
          </a:prstGeom>
          <a:noFill/>
        </p:spPr>
        <p:txBody>
          <a:bodyPr wrap="square" lIns="0" rIns="0" tIns="0" bIns="0" anchor="t">
            <a:spAutoFit/>
          </a:bodyPr>
          <a:lstStyle/>
          <a:p>
            <a:pPr>
              <a:lnSpc>
                <a:spcPct val="115000"/>
              </a:lnSpc>
              <a:spcAft>
                <a:spcPts val="0"/>
              </a:spcAft>
            </a:pPr>
            <a:r>
              <a:rPr sz="1800" b="1">
                <a:solidFill>
                  <a:srgbClr val="0C2340"/>
                </a:solidFill>
                <a:latin typeface="Arial"/>
              </a:rPr>
              <a:t>No pagination.</a:t>
            </a:r>
          </a:p>
          <a:p>
            <a:pPr>
              <a:lnSpc>
                <a:spcPct val="115000"/>
              </a:lnSpc>
              <a:spcAft>
                <a:spcPts val="0"/>
              </a:spcAft>
            </a:pPr>
            <a:r>
              <a:rPr sz="1800" b="1">
                <a:solidFill>
                  <a:srgbClr val="0C2340"/>
                </a:solidFill>
                <a:latin typeface="Arial"/>
              </a:rPr>
              <a:t>No search or filters.</a:t>
            </a:r>
          </a:p>
        </p:txBody>
      </p:sp>
      <p:sp>
        <p:nvSpPr>
          <p:cNvPr id="13" name="TextBox 12"/>
          <p:cNvSpPr txBox="1"/>
          <p:nvPr/>
        </p:nvSpPr>
        <p:spPr>
          <a:xfrm>
            <a:off x="5184648" y="1280160"/>
            <a:ext cx="4297680" cy="411480"/>
          </a:xfrm>
          <a:prstGeom prst="rect">
            <a:avLst/>
          </a:prstGeom>
          <a:noFill/>
        </p:spPr>
        <p:txBody>
          <a:bodyPr wrap="square" lIns="0" rIns="0" tIns="0" bIns="0" anchor="t">
            <a:spAutoFit/>
          </a:bodyPr>
          <a:lstStyle/>
          <a:p>
            <a:pPr>
              <a:lnSpc>
                <a:spcPct val="115000"/>
              </a:lnSpc>
              <a:spcAft>
                <a:spcPts val="0"/>
              </a:spcAft>
            </a:pPr>
            <a:r>
              <a:rPr sz="2600" b="1">
                <a:solidFill>
                  <a:srgbClr val="0C2340"/>
                </a:solidFill>
                <a:latin typeface="Arial"/>
              </a:rPr>
              <a:t>25–40 profiles</a:t>
            </a:r>
          </a:p>
        </p:txBody>
      </p:sp>
      <p:sp>
        <p:nvSpPr>
          <p:cNvPr id="14" name="TextBox 13"/>
          <p:cNvSpPr txBox="1"/>
          <p:nvPr/>
        </p:nvSpPr>
        <p:spPr>
          <a:xfrm>
            <a:off x="5184648" y="1810512"/>
            <a:ext cx="4389120" cy="320040"/>
          </a:xfrm>
          <a:prstGeom prst="rect">
            <a:avLst/>
          </a:prstGeom>
          <a:noFill/>
        </p:spPr>
        <p:txBody>
          <a:bodyPr wrap="square" lIns="0" rIns="0" tIns="0" bIns="0" anchor="t">
            <a:spAutoFit/>
          </a:bodyPr>
          <a:lstStyle/>
          <a:p>
            <a:pPr>
              <a:lnSpc>
                <a:spcPct val="115000"/>
              </a:lnSpc>
              <a:spcAft>
                <a:spcPts val="0"/>
              </a:spcAft>
            </a:pPr>
            <a:r>
              <a:rPr sz="1400" b="0">
                <a:solidFill>
                  <a:srgbClr val="52616D"/>
                </a:solidFill>
                <a:latin typeface="Arial"/>
              </a:rPr>
              <a:t>24 per page</a:t>
            </a:r>
          </a:p>
        </p:txBody>
      </p:sp>
      <p:pic>
        <p:nvPicPr>
          <p:cNvPr id="15" name="Picture 14" descr="size-40-top.png">
            <a:hlinkClick r:id="rId7"/>
          </p:cNvPr>
          <p:cNvPicPr>
            <a:picLocks noChangeAspect="1"/>
          </p:cNvPicPr>
          <p:nvPr/>
        </p:nvPicPr>
        <p:blipFill>
          <a:blip r:embed="rId6"/>
          <a:stretch>
            <a:fillRect/>
          </a:stretch>
        </p:blipFill>
        <p:spPr>
          <a:xfrm>
            <a:off x="5184648" y="2377440"/>
            <a:ext cx="4251960" cy="2253538"/>
          </a:xfrm>
          <a:prstGeom prst="rect">
            <a:avLst/>
          </a:prstGeom>
        </p:spPr>
      </p:pic>
      <p:sp>
        <p:nvSpPr>
          <p:cNvPr id="16" name="Rectangle 15"/>
          <p:cNvSpPr/>
          <p:nvPr/>
        </p:nvSpPr>
        <p:spPr>
          <a:xfrm>
            <a:off x="5184648" y="2377440"/>
            <a:ext cx="4251960" cy="2253538"/>
          </a:xfrm>
          <a:prstGeom prst="rect">
            <a:avLst/>
          </a:prstGeom>
          <a:noFill/>
          <a:ln w="7620">
            <a:solidFill>
              <a:srgbClr val="D5DBD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184648" y="5532120"/>
            <a:ext cx="4206240" cy="228600"/>
          </a:xfrm>
          <a:prstGeom prst="rect">
            <a:avLst/>
          </a:prstGeom>
          <a:noFill/>
        </p:spPr>
        <p:txBody>
          <a:bodyPr wrap="square" lIns="0" rIns="0" tIns="0" bIns="0" anchor="t">
            <a:spAutoFit/>
          </a:bodyPr>
          <a:lstStyle/>
          <a:p>
            <a:pPr>
              <a:lnSpc>
                <a:spcPct val="115000"/>
              </a:lnSpc>
              <a:spcAft>
                <a:spcPts val="0"/>
              </a:spcAft>
            </a:pPr>
            <a:r>
              <a:rPr sz="1000" b="1">
                <a:solidFill>
                  <a:srgbClr val="52616D"/>
                </a:solidFill>
                <a:latin typeface="Arial"/>
              </a:rPr>
              <a:t>BOTTOM OF THE LIST</a:t>
            </a:r>
          </a:p>
        </p:txBody>
      </p:sp>
      <p:pic>
        <p:nvPicPr>
          <p:cNvPr id="18" name="Picture 17" descr="size-40-bottom.png">
            <a:hlinkClick r:id="rId7"/>
          </p:cNvPr>
          <p:cNvPicPr>
            <a:picLocks noChangeAspect="1"/>
          </p:cNvPicPr>
          <p:nvPr/>
        </p:nvPicPr>
        <p:blipFill>
          <a:blip r:embed="rId8"/>
          <a:srcRect l="25000" r="25000" t="11538" b="19231"/>
          <a:stretch>
            <a:fillRect/>
          </a:stretch>
        </p:blipFill>
        <p:spPr>
          <a:xfrm>
            <a:off x="5184648" y="5925312"/>
            <a:ext cx="4251960" cy="765352"/>
          </a:xfrm>
          <a:prstGeom prst="rect">
            <a:avLst/>
          </a:prstGeom>
        </p:spPr>
      </p:pic>
      <p:sp>
        <p:nvSpPr>
          <p:cNvPr id="19" name="Rectangle 18"/>
          <p:cNvSpPr/>
          <p:nvPr/>
        </p:nvSpPr>
        <p:spPr>
          <a:xfrm>
            <a:off x="5184648" y="5925312"/>
            <a:ext cx="4251960" cy="765352"/>
          </a:xfrm>
          <a:prstGeom prst="rect">
            <a:avLst/>
          </a:prstGeom>
          <a:noFill/>
          <a:ln w="7620">
            <a:solidFill>
              <a:srgbClr val="D5DBD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48072" y="5879592"/>
            <a:ext cx="4325112" cy="859536"/>
          </a:xfrm>
          <a:prstGeom prst="rect">
            <a:avLst/>
          </a:prstGeom>
          <a:noFill/>
          <a:ln w="25400">
            <a:solidFill>
              <a:srgbClr val="AE91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184648" y="6949440"/>
            <a:ext cx="4389120" cy="365760"/>
          </a:xfrm>
          <a:prstGeom prst="rect">
            <a:avLst/>
          </a:prstGeom>
          <a:noFill/>
        </p:spPr>
        <p:txBody>
          <a:bodyPr wrap="square" lIns="0" rIns="0" tIns="0" bIns="0" anchor="t">
            <a:spAutoFit/>
          </a:bodyPr>
          <a:lstStyle/>
          <a:p>
            <a:pPr>
              <a:lnSpc>
                <a:spcPct val="115000"/>
              </a:lnSpc>
              <a:spcAft>
                <a:spcPts val="0"/>
              </a:spcAft>
            </a:pPr>
            <a:r>
              <a:rPr sz="1200" b="1">
                <a:solidFill>
                  <a:srgbClr val="0C2340"/>
                </a:solidFill>
                <a:latin typeface="Arial"/>
              </a:rPr>
              <a:t>Numbered pagination below the grid</a:t>
            </a:r>
          </a:p>
        </p:txBody>
      </p:sp>
      <p:sp>
        <p:nvSpPr>
          <p:cNvPr id="22" name="TextBox 21"/>
          <p:cNvSpPr txBox="1"/>
          <p:nvPr/>
        </p:nvSpPr>
        <p:spPr>
          <a:xfrm>
            <a:off x="9912096" y="1280160"/>
            <a:ext cx="4297680" cy="411480"/>
          </a:xfrm>
          <a:prstGeom prst="rect">
            <a:avLst/>
          </a:prstGeom>
          <a:noFill/>
        </p:spPr>
        <p:txBody>
          <a:bodyPr wrap="square" lIns="0" rIns="0" tIns="0" bIns="0" anchor="t">
            <a:spAutoFit/>
          </a:bodyPr>
          <a:lstStyle/>
          <a:p>
            <a:pPr>
              <a:lnSpc>
                <a:spcPct val="115000"/>
              </a:lnSpc>
              <a:spcAft>
                <a:spcPts val="0"/>
              </a:spcAft>
            </a:pPr>
            <a:r>
              <a:rPr sz="2600" b="1">
                <a:solidFill>
                  <a:srgbClr val="0C2340"/>
                </a:solidFill>
                <a:latin typeface="Arial"/>
              </a:rPr>
              <a:t>More than 40 profiles</a:t>
            </a:r>
          </a:p>
        </p:txBody>
      </p:sp>
      <p:sp>
        <p:nvSpPr>
          <p:cNvPr id="23" name="TextBox 22"/>
          <p:cNvSpPr txBox="1"/>
          <p:nvPr/>
        </p:nvSpPr>
        <p:spPr>
          <a:xfrm>
            <a:off x="9912096" y="1810512"/>
            <a:ext cx="4389120" cy="320040"/>
          </a:xfrm>
          <a:prstGeom prst="rect">
            <a:avLst/>
          </a:prstGeom>
          <a:noFill/>
        </p:spPr>
        <p:txBody>
          <a:bodyPr wrap="square" lIns="0" rIns="0" tIns="0" bIns="0" anchor="t">
            <a:spAutoFit/>
          </a:bodyPr>
          <a:lstStyle/>
          <a:p>
            <a:pPr>
              <a:lnSpc>
                <a:spcPct val="115000"/>
              </a:lnSpc>
              <a:spcAft>
                <a:spcPts val="0"/>
              </a:spcAft>
            </a:pPr>
            <a:r>
              <a:rPr sz="1400" b="0">
                <a:solidFill>
                  <a:srgbClr val="52616D"/>
                </a:solidFill>
                <a:latin typeface="Arial"/>
              </a:rPr>
              <a:t>24 per page + search / filters</a:t>
            </a:r>
          </a:p>
        </p:txBody>
      </p:sp>
      <p:pic>
        <p:nvPicPr>
          <p:cNvPr id="24" name="Picture 23" descr="size-60-top.png">
            <a:hlinkClick r:id="rId10"/>
          </p:cNvPr>
          <p:cNvPicPr>
            <a:picLocks noChangeAspect="1"/>
          </p:cNvPicPr>
          <p:nvPr/>
        </p:nvPicPr>
        <p:blipFill>
          <a:blip r:embed="rId9"/>
          <a:stretch>
            <a:fillRect/>
          </a:stretch>
        </p:blipFill>
        <p:spPr>
          <a:xfrm>
            <a:off x="9912096" y="2377440"/>
            <a:ext cx="4251960" cy="2806293"/>
          </a:xfrm>
          <a:prstGeom prst="rect">
            <a:avLst/>
          </a:prstGeom>
        </p:spPr>
      </p:pic>
      <p:sp>
        <p:nvSpPr>
          <p:cNvPr id="25" name="Rectangle 24"/>
          <p:cNvSpPr/>
          <p:nvPr/>
        </p:nvSpPr>
        <p:spPr>
          <a:xfrm>
            <a:off x="9912096" y="2377440"/>
            <a:ext cx="4251960" cy="2806293"/>
          </a:xfrm>
          <a:prstGeom prst="rect">
            <a:avLst/>
          </a:prstGeom>
          <a:noFill/>
          <a:ln w="7620">
            <a:solidFill>
              <a:srgbClr val="D5DBD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912096" y="5532120"/>
            <a:ext cx="4206240" cy="228600"/>
          </a:xfrm>
          <a:prstGeom prst="rect">
            <a:avLst/>
          </a:prstGeom>
          <a:noFill/>
        </p:spPr>
        <p:txBody>
          <a:bodyPr wrap="square" lIns="0" rIns="0" tIns="0" bIns="0" anchor="t">
            <a:spAutoFit/>
          </a:bodyPr>
          <a:lstStyle/>
          <a:p>
            <a:pPr>
              <a:lnSpc>
                <a:spcPct val="115000"/>
              </a:lnSpc>
              <a:spcAft>
                <a:spcPts val="0"/>
              </a:spcAft>
            </a:pPr>
            <a:r>
              <a:rPr sz="1000" b="1">
                <a:solidFill>
                  <a:srgbClr val="52616D"/>
                </a:solidFill>
                <a:latin typeface="Arial"/>
              </a:rPr>
              <a:t>BOTTOM OF THE LIST</a:t>
            </a:r>
          </a:p>
        </p:txBody>
      </p:sp>
      <p:pic>
        <p:nvPicPr>
          <p:cNvPr id="27" name="Picture 26" descr="size-60-bottom.png">
            <a:hlinkClick r:id="rId10"/>
          </p:cNvPr>
          <p:cNvPicPr>
            <a:picLocks noChangeAspect="1"/>
          </p:cNvPicPr>
          <p:nvPr/>
        </p:nvPicPr>
        <p:blipFill>
          <a:blip r:embed="rId11"/>
          <a:srcRect l="25000" r="25000" t="11538" b="19231"/>
          <a:stretch>
            <a:fillRect/>
          </a:stretch>
        </p:blipFill>
        <p:spPr>
          <a:xfrm>
            <a:off x="9912096" y="5925312"/>
            <a:ext cx="4251960" cy="765352"/>
          </a:xfrm>
          <a:prstGeom prst="rect">
            <a:avLst/>
          </a:prstGeom>
        </p:spPr>
      </p:pic>
      <p:sp>
        <p:nvSpPr>
          <p:cNvPr id="28" name="Rectangle 27"/>
          <p:cNvSpPr/>
          <p:nvPr/>
        </p:nvSpPr>
        <p:spPr>
          <a:xfrm>
            <a:off x="9912096" y="5925312"/>
            <a:ext cx="4251960" cy="765352"/>
          </a:xfrm>
          <a:prstGeom prst="rect">
            <a:avLst/>
          </a:prstGeom>
          <a:noFill/>
          <a:ln w="7620">
            <a:solidFill>
              <a:srgbClr val="D5DBD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9875520" y="5879592"/>
            <a:ext cx="4325112" cy="859536"/>
          </a:xfrm>
          <a:prstGeom prst="rect">
            <a:avLst/>
          </a:prstGeom>
          <a:noFill/>
          <a:ln w="25400">
            <a:solidFill>
              <a:srgbClr val="AE91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912096" y="6949440"/>
            <a:ext cx="4389120" cy="365760"/>
          </a:xfrm>
          <a:prstGeom prst="rect">
            <a:avLst/>
          </a:prstGeom>
          <a:noFill/>
        </p:spPr>
        <p:txBody>
          <a:bodyPr wrap="square" lIns="0" rIns="0" tIns="0" bIns="0" anchor="t">
            <a:spAutoFit/>
          </a:bodyPr>
          <a:lstStyle/>
          <a:p>
            <a:pPr>
              <a:lnSpc>
                <a:spcPct val="115000"/>
              </a:lnSpc>
              <a:spcAft>
                <a:spcPts val="0"/>
              </a:spcAft>
            </a:pPr>
            <a:r>
              <a:rPr sz="1200" b="1">
                <a:solidFill>
                  <a:srgbClr val="0C2340"/>
                </a:solidFill>
                <a:latin typeface="Arial"/>
              </a:rPr>
              <a:t>Numbered pagination below the grid</a:t>
            </a:r>
          </a:p>
        </p:txBody>
      </p:sp>
      <p:sp>
        <p:nvSpPr>
          <p:cNvPr id="31" name="Rectangle 30"/>
          <p:cNvSpPr/>
          <p:nvPr/>
        </p:nvSpPr>
        <p:spPr>
          <a:xfrm>
            <a:off x="9875520" y="3063240"/>
            <a:ext cx="4325112" cy="1298448"/>
          </a:xfrm>
          <a:prstGeom prst="rect">
            <a:avLst/>
          </a:prstGeom>
          <a:noFill/>
          <a:ln w="25400">
            <a:solidFill>
              <a:srgbClr val="AE91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00" cy="50292"/>
          </a:xfrm>
          <a:prstGeom prst="rect">
            <a:avLst/>
          </a:prstGeom>
          <a:solidFill>
            <a:srgbClr val="AE91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13716000" cy="182880"/>
          </a:xfrm>
          <a:prstGeom prst="rect">
            <a:avLst/>
          </a:prstGeom>
          <a:noFill/>
        </p:spPr>
        <p:txBody>
          <a:bodyPr wrap="square" lIns="0" rIns="0" tIns="0" bIns="0" anchor="t">
            <a:spAutoFit/>
          </a:bodyPr>
          <a:lstStyle/>
          <a:p>
            <a:pPr>
              <a:lnSpc>
                <a:spcPct val="115000"/>
              </a:lnSpc>
              <a:spcAft>
                <a:spcPts val="0"/>
              </a:spcAft>
            </a:pPr>
            <a:r>
              <a:rPr sz="900" b="1">
                <a:solidFill>
                  <a:srgbClr val="52616D"/>
                </a:solidFill>
                <a:latin typeface="Arial"/>
              </a:rPr>
              <a:t>PROPOSED STANDARD  /  INSTITUTE PEOPLE PAGES</a:t>
            </a:r>
          </a:p>
        </p:txBody>
      </p:sp>
      <p:sp>
        <p:nvSpPr>
          <p:cNvPr id="4" name="TextBox 3"/>
          <p:cNvSpPr txBox="1"/>
          <p:nvPr/>
        </p:nvSpPr>
        <p:spPr>
          <a:xfrm>
            <a:off x="457200" y="502920"/>
            <a:ext cx="13716000" cy="548640"/>
          </a:xfrm>
          <a:prstGeom prst="rect">
            <a:avLst/>
          </a:prstGeom>
          <a:noFill/>
        </p:spPr>
        <p:txBody>
          <a:bodyPr wrap="square" lIns="0" rIns="0" tIns="0" bIns="0" anchor="t">
            <a:spAutoFit/>
          </a:bodyPr>
          <a:lstStyle/>
          <a:p>
            <a:pPr>
              <a:lnSpc>
                <a:spcPct val="115000"/>
              </a:lnSpc>
              <a:spcAft>
                <a:spcPts val="0"/>
              </a:spcAft>
            </a:pPr>
            <a:r>
              <a:rPr sz="3000" b="1">
                <a:solidFill>
                  <a:srgbClr val="0C2340"/>
                </a:solidFill>
                <a:latin typeface="Arial"/>
              </a:rPr>
              <a:t>A category opens its default group</a:t>
            </a:r>
          </a:p>
        </p:txBody>
      </p:sp>
      <p:sp>
        <p:nvSpPr>
          <p:cNvPr id="5" name="TextBox 4"/>
          <p:cNvSpPr txBox="1"/>
          <p:nvPr/>
        </p:nvSpPr>
        <p:spPr>
          <a:xfrm>
            <a:off x="457200" y="7973568"/>
            <a:ext cx="9144000" cy="164592"/>
          </a:xfrm>
          <a:prstGeom prst="rect">
            <a:avLst/>
          </a:prstGeom>
          <a:noFill/>
        </p:spPr>
        <p:txBody>
          <a:bodyPr wrap="square" lIns="0" rIns="0" tIns="0" bIns="0" anchor="t">
            <a:spAutoFit/>
          </a:bodyPr>
          <a:lstStyle/>
          <a:p>
            <a:pPr>
              <a:lnSpc>
                <a:spcPct val="115000"/>
              </a:lnSpc>
              <a:spcAft>
                <a:spcPts val="0"/>
              </a:spcAft>
            </a:pPr>
            <a:r>
              <a:rPr sz="900" b="0">
                <a:solidFill>
                  <a:srgbClr val="52616D"/>
                </a:solidFill>
                <a:latin typeface="Arial"/>
              </a:rPr>
              <a:t>DRAFT FOR FEEDBACK  ·  Browse by group</a:t>
            </a:r>
          </a:p>
        </p:txBody>
      </p:sp>
      <p:sp>
        <p:nvSpPr>
          <p:cNvPr id="6" name="TextBox 5"/>
          <p:cNvSpPr txBox="1"/>
          <p:nvPr/>
        </p:nvSpPr>
        <p:spPr>
          <a:xfrm>
            <a:off x="11338560" y="7973568"/>
            <a:ext cx="2377440" cy="164592"/>
          </a:xfrm>
          <a:prstGeom prst="rect">
            <a:avLst/>
          </a:prstGeom>
          <a:noFill/>
        </p:spPr>
        <p:txBody>
          <a:bodyPr wrap="square" lIns="0" rIns="0" tIns="0" bIns="0" anchor="t">
            <a:spAutoFit/>
          </a:bodyPr>
          <a:lstStyle/>
          <a:p>
            <a:pPr>
              <a:lnSpc>
                <a:spcPct val="115000"/>
              </a:lnSpc>
              <a:spcAft>
                <a:spcPts val="0"/>
              </a:spcAft>
            </a:pPr>
            <a:r>
              <a:rPr sz="900" b="0">
                <a:solidFill>
                  <a:srgbClr val="52616D"/>
                </a:solidFill>
                <a:latin typeface="Arial"/>
                <a:hlinkClick r:id="rId2"/>
              </a:rPr>
              <a:t>Open the live example</a:t>
            </a:r>
          </a:p>
        </p:txBody>
      </p:sp>
      <p:sp>
        <p:nvSpPr>
          <p:cNvPr id="7" name="TextBox 6"/>
          <p:cNvSpPr txBox="1"/>
          <p:nvPr/>
        </p:nvSpPr>
        <p:spPr>
          <a:xfrm>
            <a:off x="13944600" y="7973568"/>
            <a:ext cx="457200" cy="164592"/>
          </a:xfrm>
          <a:prstGeom prst="rect">
            <a:avLst/>
          </a:prstGeom>
          <a:noFill/>
        </p:spPr>
        <p:txBody>
          <a:bodyPr wrap="square" lIns="0" rIns="0" tIns="0" bIns="0" anchor="t">
            <a:spAutoFit/>
          </a:bodyPr>
          <a:lstStyle/>
          <a:p>
            <a:pPr>
              <a:lnSpc>
                <a:spcPct val="115000"/>
              </a:lnSpc>
              <a:spcAft>
                <a:spcPts val="0"/>
              </a:spcAft>
            </a:pPr>
            <a:r>
              <a:rPr sz="900" b="0">
                <a:solidFill>
                  <a:srgbClr val="52616D"/>
                </a:solidFill>
                <a:latin typeface="Arial"/>
              </a:rPr>
              <a:t>3 / 7</a:t>
            </a:r>
          </a:p>
        </p:txBody>
      </p:sp>
      <p:pic>
        <p:nvPicPr>
          <p:cNvPr id="8" name="Picture 7" descr="category.png">
            <a:hlinkClick r:id="rId2"/>
          </p:cNvPr>
          <p:cNvPicPr>
            <a:picLocks noChangeAspect="1"/>
          </p:cNvPicPr>
          <p:nvPr/>
        </p:nvPicPr>
        <p:blipFill>
          <a:blip r:embed="rId4"/>
          <a:stretch>
            <a:fillRect/>
          </a:stretch>
        </p:blipFill>
        <p:spPr>
          <a:xfrm>
            <a:off x="457200" y="1143000"/>
            <a:ext cx="9738360" cy="6086475"/>
          </a:xfrm>
          <a:prstGeom prst="rect">
            <a:avLst/>
          </a:prstGeom>
        </p:spPr>
      </p:pic>
      <p:sp>
        <p:nvSpPr>
          <p:cNvPr id="9" name="Rectangle 8"/>
          <p:cNvSpPr/>
          <p:nvPr/>
        </p:nvSpPr>
        <p:spPr>
          <a:xfrm>
            <a:off x="457200" y="1143000"/>
            <a:ext cx="9738360" cy="6086475"/>
          </a:xfrm>
          <a:prstGeom prst="rect">
            <a:avLst/>
          </a:prstGeom>
          <a:noFill/>
          <a:ln w="7620">
            <a:solidFill>
              <a:srgbClr val="D5DBD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103245" y="2750962"/>
            <a:ext cx="6637401" cy="558005"/>
          </a:xfrm>
          <a:prstGeom prst="rect">
            <a:avLst/>
          </a:prstGeom>
          <a:noFill/>
          <a:ln w="25400">
            <a:solidFill>
              <a:srgbClr val="AE91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2979801" y="2627518"/>
            <a:ext cx="310896" cy="310896"/>
          </a:xfrm>
          <a:prstGeom prst="ellipse">
            <a:avLst/>
          </a:prstGeom>
          <a:solidFill>
            <a:srgbClr val="0C234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Arial"/>
              </a:rPr>
              <a:t>1</a:t>
            </a:r>
          </a:p>
        </p:txBody>
      </p:sp>
      <p:sp>
        <p:nvSpPr>
          <p:cNvPr id="12" name="Rectangle 11"/>
          <p:cNvSpPr/>
          <p:nvPr/>
        </p:nvSpPr>
        <p:spPr>
          <a:xfrm>
            <a:off x="912114" y="3075469"/>
            <a:ext cx="1930527" cy="992829"/>
          </a:xfrm>
          <a:prstGeom prst="rect">
            <a:avLst/>
          </a:prstGeom>
          <a:noFill/>
          <a:ln w="25400">
            <a:solidFill>
              <a:srgbClr val="AE91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788670" y="2952025"/>
            <a:ext cx="310896" cy="310896"/>
          </a:xfrm>
          <a:prstGeom prst="ellipse">
            <a:avLst/>
          </a:prstGeom>
          <a:solidFill>
            <a:srgbClr val="0C234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Arial"/>
              </a:rPr>
              <a:t>2</a:t>
            </a:r>
          </a:p>
        </p:txBody>
      </p:sp>
      <p:sp>
        <p:nvSpPr>
          <p:cNvPr id="14" name="Rectangle 13"/>
          <p:cNvSpPr/>
          <p:nvPr/>
        </p:nvSpPr>
        <p:spPr>
          <a:xfrm>
            <a:off x="3103245" y="3955049"/>
            <a:ext cx="1484185" cy="2518886"/>
          </a:xfrm>
          <a:prstGeom prst="rect">
            <a:avLst/>
          </a:prstGeom>
          <a:noFill/>
          <a:ln w="25400">
            <a:solidFill>
              <a:srgbClr val="AE91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2979801" y="3831605"/>
            <a:ext cx="310896" cy="310896"/>
          </a:xfrm>
          <a:prstGeom prst="ellipse">
            <a:avLst/>
          </a:prstGeom>
          <a:solidFill>
            <a:srgbClr val="0C234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Arial"/>
              </a:rPr>
              <a:t>3</a:t>
            </a:r>
          </a:p>
        </p:txBody>
      </p:sp>
      <p:sp>
        <p:nvSpPr>
          <p:cNvPr id="16" name="Oval 15"/>
          <p:cNvSpPr/>
          <p:nvPr/>
        </p:nvSpPr>
        <p:spPr>
          <a:xfrm>
            <a:off x="10497312" y="1527048"/>
            <a:ext cx="310896" cy="310896"/>
          </a:xfrm>
          <a:prstGeom prst="ellipse">
            <a:avLst/>
          </a:prstGeom>
          <a:solidFill>
            <a:srgbClr val="0C234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Arial"/>
              </a:rPr>
              <a:t>1</a:t>
            </a:r>
          </a:p>
        </p:txBody>
      </p:sp>
      <p:sp>
        <p:nvSpPr>
          <p:cNvPr id="17" name="TextBox 16"/>
          <p:cNvSpPr txBox="1"/>
          <p:nvPr/>
        </p:nvSpPr>
        <p:spPr>
          <a:xfrm>
            <a:off x="10972800" y="1554480"/>
            <a:ext cx="3200400" cy="502920"/>
          </a:xfrm>
          <a:prstGeom prst="rect">
            <a:avLst/>
          </a:prstGeom>
          <a:noFill/>
        </p:spPr>
        <p:txBody>
          <a:bodyPr wrap="square" lIns="0" rIns="0" tIns="0" bIns="0" anchor="t">
            <a:spAutoFit/>
          </a:bodyPr>
          <a:lstStyle/>
          <a:p>
            <a:pPr>
              <a:lnSpc>
                <a:spcPct val="115000"/>
              </a:lnSpc>
              <a:spcAft>
                <a:spcPts val="0"/>
              </a:spcAft>
            </a:pPr>
            <a:r>
              <a:rPr sz="1800" b="1">
                <a:solidFill>
                  <a:srgbClr val="0C2340"/>
                </a:solidFill>
                <a:latin typeface="Arial"/>
              </a:rPr>
              <a:t>Just “Faculty”</a:t>
            </a:r>
          </a:p>
        </p:txBody>
      </p:sp>
      <p:sp>
        <p:nvSpPr>
          <p:cNvPr id="18" name="TextBox 17"/>
          <p:cNvSpPr txBox="1"/>
          <p:nvPr/>
        </p:nvSpPr>
        <p:spPr>
          <a:xfrm>
            <a:off x="10972800" y="2139696"/>
            <a:ext cx="3154680" cy="914400"/>
          </a:xfrm>
          <a:prstGeom prst="rect">
            <a:avLst/>
          </a:prstGeom>
          <a:noFill/>
        </p:spPr>
        <p:txBody>
          <a:bodyPr wrap="square" lIns="0" rIns="0" tIns="0" bIns="0" anchor="t">
            <a:spAutoFit/>
          </a:bodyPr>
          <a:lstStyle/>
          <a:p>
            <a:pPr>
              <a:lnSpc>
                <a:spcPct val="115000"/>
              </a:lnSpc>
              <a:spcAft>
                <a:spcPts val="0"/>
              </a:spcAft>
            </a:pPr>
            <a:r>
              <a:rPr sz="1400" b="0">
                <a:solidFill>
                  <a:srgbClr val="52616D"/>
                </a:solidFill>
                <a:latin typeface="Arial"/>
              </a:rPr>
              <a:t>No lede.</a:t>
            </a:r>
          </a:p>
          <a:p>
            <a:pPr>
              <a:lnSpc>
                <a:spcPct val="115000"/>
              </a:lnSpc>
              <a:spcAft>
                <a:spcPts val="0"/>
              </a:spcAft>
            </a:pPr>
            <a:r>
              <a:rPr sz="1400" b="0">
                <a:solidFill>
                  <a:srgbClr val="52616D"/>
                </a:solidFill>
                <a:latin typeface="Arial"/>
              </a:rPr>
              <a:t>No repeated group heading.</a:t>
            </a:r>
          </a:p>
        </p:txBody>
      </p:sp>
      <p:sp>
        <p:nvSpPr>
          <p:cNvPr id="19" name="Oval 18"/>
          <p:cNvSpPr/>
          <p:nvPr/>
        </p:nvSpPr>
        <p:spPr>
          <a:xfrm>
            <a:off x="10497312" y="3218688"/>
            <a:ext cx="310896" cy="310896"/>
          </a:xfrm>
          <a:prstGeom prst="ellipse">
            <a:avLst/>
          </a:prstGeom>
          <a:solidFill>
            <a:srgbClr val="0C234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Arial"/>
              </a:rPr>
              <a:t>2</a:t>
            </a:r>
          </a:p>
        </p:txBody>
      </p:sp>
      <p:sp>
        <p:nvSpPr>
          <p:cNvPr id="20" name="TextBox 19"/>
          <p:cNvSpPr txBox="1"/>
          <p:nvPr/>
        </p:nvSpPr>
        <p:spPr>
          <a:xfrm>
            <a:off x="10972800" y="3246120"/>
            <a:ext cx="3200400" cy="502920"/>
          </a:xfrm>
          <a:prstGeom prst="rect">
            <a:avLst/>
          </a:prstGeom>
          <a:noFill/>
        </p:spPr>
        <p:txBody>
          <a:bodyPr wrap="square" lIns="0" rIns="0" tIns="0" bIns="0" anchor="t">
            <a:spAutoFit/>
          </a:bodyPr>
          <a:lstStyle/>
          <a:p>
            <a:pPr>
              <a:lnSpc>
                <a:spcPct val="115000"/>
              </a:lnSpc>
              <a:spcAft>
                <a:spcPts val="0"/>
              </a:spcAft>
            </a:pPr>
            <a:r>
              <a:rPr sz="1800" b="1">
                <a:solidFill>
                  <a:srgbClr val="0C2340"/>
                </a:solidFill>
                <a:latin typeface="Arial"/>
              </a:rPr>
              <a:t>Reveal its subgroups</a:t>
            </a:r>
          </a:p>
        </p:txBody>
      </p:sp>
      <p:sp>
        <p:nvSpPr>
          <p:cNvPr id="21" name="TextBox 20"/>
          <p:cNvSpPr txBox="1"/>
          <p:nvPr/>
        </p:nvSpPr>
        <p:spPr>
          <a:xfrm>
            <a:off x="10972800" y="3831335"/>
            <a:ext cx="3154680" cy="914400"/>
          </a:xfrm>
          <a:prstGeom prst="rect">
            <a:avLst/>
          </a:prstGeom>
          <a:noFill/>
        </p:spPr>
        <p:txBody>
          <a:bodyPr wrap="square" lIns="0" rIns="0" tIns="0" bIns="0" anchor="t">
            <a:spAutoFit/>
          </a:bodyPr>
          <a:lstStyle/>
          <a:p>
            <a:pPr>
              <a:lnSpc>
                <a:spcPct val="115000"/>
              </a:lnSpc>
              <a:spcAft>
                <a:spcPts val="0"/>
              </a:spcAft>
            </a:pPr>
            <a:r>
              <a:rPr sz="1400" b="0">
                <a:solidFill>
                  <a:srgbClr val="52616D"/>
                </a:solidFill>
                <a:latin typeface="Arial"/>
              </a:rPr>
              <a:t>Other categories</a:t>
            </a:r>
          </a:p>
          <a:p>
            <a:pPr>
              <a:lnSpc>
                <a:spcPct val="115000"/>
              </a:lnSpc>
              <a:spcAft>
                <a:spcPts val="0"/>
              </a:spcAft>
            </a:pPr>
            <a:r>
              <a:rPr sz="1400" b="0">
                <a:solidFill>
                  <a:srgbClr val="52616D"/>
                </a:solidFill>
                <a:latin typeface="Arial"/>
              </a:rPr>
              <a:t>stay collapsed.</a:t>
            </a:r>
          </a:p>
        </p:txBody>
      </p:sp>
      <p:sp>
        <p:nvSpPr>
          <p:cNvPr id="22" name="Oval 21"/>
          <p:cNvSpPr/>
          <p:nvPr/>
        </p:nvSpPr>
        <p:spPr>
          <a:xfrm>
            <a:off x="10497312" y="4956048"/>
            <a:ext cx="310896" cy="310896"/>
          </a:xfrm>
          <a:prstGeom prst="ellipse">
            <a:avLst/>
          </a:prstGeom>
          <a:solidFill>
            <a:srgbClr val="0C234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Arial"/>
              </a:rPr>
              <a:t>3</a:t>
            </a:r>
          </a:p>
        </p:txBody>
      </p:sp>
      <p:sp>
        <p:nvSpPr>
          <p:cNvPr id="23" name="TextBox 22"/>
          <p:cNvSpPr txBox="1"/>
          <p:nvPr/>
        </p:nvSpPr>
        <p:spPr>
          <a:xfrm>
            <a:off x="10972800" y="4983480"/>
            <a:ext cx="3200400" cy="502920"/>
          </a:xfrm>
          <a:prstGeom prst="rect">
            <a:avLst/>
          </a:prstGeom>
          <a:noFill/>
        </p:spPr>
        <p:txBody>
          <a:bodyPr wrap="square" lIns="0" rIns="0" tIns="0" bIns="0" anchor="t">
            <a:spAutoFit/>
          </a:bodyPr>
          <a:lstStyle/>
          <a:p>
            <a:pPr>
              <a:lnSpc>
                <a:spcPct val="115000"/>
              </a:lnSpc>
              <a:spcAft>
                <a:spcPts val="0"/>
              </a:spcAft>
            </a:pPr>
            <a:r>
              <a:rPr sz="1800" b="1">
                <a:solidFill>
                  <a:srgbClr val="0C2340"/>
                </a:solidFill>
                <a:latin typeface="Arial"/>
              </a:rPr>
              <a:t>Show core affiliates</a:t>
            </a:r>
          </a:p>
        </p:txBody>
      </p:sp>
      <p:sp>
        <p:nvSpPr>
          <p:cNvPr id="24" name="TextBox 23"/>
          <p:cNvSpPr txBox="1"/>
          <p:nvPr/>
        </p:nvSpPr>
        <p:spPr>
          <a:xfrm>
            <a:off x="10972800" y="5568696"/>
            <a:ext cx="3154680" cy="914400"/>
          </a:xfrm>
          <a:prstGeom prst="rect">
            <a:avLst/>
          </a:prstGeom>
          <a:noFill/>
        </p:spPr>
        <p:txBody>
          <a:bodyPr wrap="square" lIns="0" rIns="0" tIns="0" bIns="0" anchor="t">
            <a:spAutoFit/>
          </a:bodyPr>
          <a:lstStyle/>
          <a:p>
            <a:pPr>
              <a:lnSpc>
                <a:spcPct val="115000"/>
              </a:lnSpc>
              <a:spcAft>
                <a:spcPts val="0"/>
              </a:spcAft>
            </a:pPr>
            <a:r>
              <a:rPr sz="1400" b="0">
                <a:solidFill>
                  <a:srgbClr val="52616D"/>
                </a:solidFill>
                <a:latin typeface="Arial"/>
              </a:rPr>
              <a:t>No separate “Core”</a:t>
            </a:r>
          </a:p>
          <a:p>
            <a:pPr>
              <a:lnSpc>
                <a:spcPct val="115000"/>
              </a:lnSpc>
              <a:spcAft>
                <a:spcPts val="0"/>
              </a:spcAft>
            </a:pPr>
            <a:r>
              <a:rPr sz="1400" b="0">
                <a:solidFill>
                  <a:srgbClr val="52616D"/>
                </a:solidFill>
                <a:latin typeface="Arial"/>
              </a:rPr>
              <a:t>page or heading needed.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00" cy="50292"/>
          </a:xfrm>
          <a:prstGeom prst="rect">
            <a:avLst/>
          </a:prstGeom>
          <a:solidFill>
            <a:srgbClr val="AE91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13716000" cy="182880"/>
          </a:xfrm>
          <a:prstGeom prst="rect">
            <a:avLst/>
          </a:prstGeom>
          <a:noFill/>
        </p:spPr>
        <p:txBody>
          <a:bodyPr wrap="square" lIns="0" rIns="0" tIns="0" bIns="0" anchor="t">
            <a:spAutoFit/>
          </a:bodyPr>
          <a:lstStyle/>
          <a:p>
            <a:pPr>
              <a:lnSpc>
                <a:spcPct val="115000"/>
              </a:lnSpc>
              <a:spcAft>
                <a:spcPts val="0"/>
              </a:spcAft>
            </a:pPr>
            <a:r>
              <a:rPr sz="900" b="1">
                <a:solidFill>
                  <a:srgbClr val="52616D"/>
                </a:solidFill>
                <a:latin typeface="Arial"/>
              </a:rPr>
              <a:t>PROPOSED STANDARD  /  INSTITUTE PEOPLE PAGES</a:t>
            </a:r>
          </a:p>
        </p:txBody>
      </p:sp>
      <p:sp>
        <p:nvSpPr>
          <p:cNvPr id="4" name="TextBox 3"/>
          <p:cNvSpPr txBox="1"/>
          <p:nvPr/>
        </p:nvSpPr>
        <p:spPr>
          <a:xfrm>
            <a:off x="457200" y="502920"/>
            <a:ext cx="13716000" cy="548640"/>
          </a:xfrm>
          <a:prstGeom prst="rect">
            <a:avLst/>
          </a:prstGeom>
          <a:noFill/>
        </p:spPr>
        <p:txBody>
          <a:bodyPr wrap="square" lIns="0" rIns="0" tIns="0" bIns="0" anchor="t">
            <a:spAutoFit/>
          </a:bodyPr>
          <a:lstStyle/>
          <a:p>
            <a:pPr>
              <a:lnSpc>
                <a:spcPct val="115000"/>
              </a:lnSpc>
              <a:spcAft>
                <a:spcPts val="0"/>
              </a:spcAft>
            </a:pPr>
            <a:r>
              <a:rPr sz="3000" b="1">
                <a:solidFill>
                  <a:srgbClr val="0C2340"/>
                </a:solidFill>
                <a:latin typeface="Arial"/>
              </a:rPr>
              <a:t>A school-hosted profile opens directly</a:t>
            </a:r>
          </a:p>
        </p:txBody>
      </p:sp>
      <p:sp>
        <p:nvSpPr>
          <p:cNvPr id="5" name="TextBox 4"/>
          <p:cNvSpPr txBox="1"/>
          <p:nvPr/>
        </p:nvSpPr>
        <p:spPr>
          <a:xfrm>
            <a:off x="457200" y="7973568"/>
            <a:ext cx="9144000" cy="164592"/>
          </a:xfrm>
          <a:prstGeom prst="rect">
            <a:avLst/>
          </a:prstGeom>
          <a:noFill/>
        </p:spPr>
        <p:txBody>
          <a:bodyPr wrap="square" lIns="0" rIns="0" tIns="0" bIns="0" anchor="t">
            <a:spAutoFit/>
          </a:bodyPr>
          <a:lstStyle/>
          <a:p>
            <a:pPr>
              <a:lnSpc>
                <a:spcPct val="115000"/>
              </a:lnSpc>
              <a:spcAft>
                <a:spcPts val="0"/>
              </a:spcAft>
            </a:pPr>
            <a:r>
              <a:rPr sz="900" b="0">
                <a:solidFill>
                  <a:srgbClr val="52616D"/>
                </a:solidFill>
                <a:latin typeface="Arial"/>
              </a:rPr>
              <a:t>DRAFT FOR FEEDBACK  ·  Profile destination 1</a:t>
            </a:r>
          </a:p>
        </p:txBody>
      </p:sp>
      <p:sp>
        <p:nvSpPr>
          <p:cNvPr id="6" name="TextBox 5"/>
          <p:cNvSpPr txBox="1"/>
          <p:nvPr/>
        </p:nvSpPr>
        <p:spPr>
          <a:xfrm>
            <a:off x="11338560" y="7973568"/>
            <a:ext cx="2377440" cy="164592"/>
          </a:xfrm>
          <a:prstGeom prst="rect">
            <a:avLst/>
          </a:prstGeom>
          <a:noFill/>
        </p:spPr>
        <p:txBody>
          <a:bodyPr wrap="square" lIns="0" rIns="0" tIns="0" bIns="0" anchor="t">
            <a:spAutoFit/>
          </a:bodyPr>
          <a:lstStyle/>
          <a:p>
            <a:pPr>
              <a:lnSpc>
                <a:spcPct val="115000"/>
              </a:lnSpc>
              <a:spcAft>
                <a:spcPts val="0"/>
              </a:spcAft>
            </a:pPr>
            <a:r>
              <a:rPr sz="900" b="0">
                <a:solidFill>
                  <a:srgbClr val="52616D"/>
                </a:solidFill>
                <a:latin typeface="Arial"/>
                <a:hlinkClick r:id="rId2"/>
              </a:rPr>
              <a:t>Open the live example</a:t>
            </a:r>
          </a:p>
        </p:txBody>
      </p:sp>
      <p:sp>
        <p:nvSpPr>
          <p:cNvPr id="7" name="TextBox 6"/>
          <p:cNvSpPr txBox="1"/>
          <p:nvPr/>
        </p:nvSpPr>
        <p:spPr>
          <a:xfrm>
            <a:off x="13944600" y="7973568"/>
            <a:ext cx="457200" cy="164592"/>
          </a:xfrm>
          <a:prstGeom prst="rect">
            <a:avLst/>
          </a:prstGeom>
          <a:noFill/>
        </p:spPr>
        <p:txBody>
          <a:bodyPr wrap="square" lIns="0" rIns="0" tIns="0" bIns="0" anchor="t">
            <a:spAutoFit/>
          </a:bodyPr>
          <a:lstStyle/>
          <a:p>
            <a:pPr>
              <a:lnSpc>
                <a:spcPct val="115000"/>
              </a:lnSpc>
              <a:spcAft>
                <a:spcPts val="0"/>
              </a:spcAft>
            </a:pPr>
            <a:r>
              <a:rPr sz="900" b="0">
                <a:solidFill>
                  <a:srgbClr val="52616D"/>
                </a:solidFill>
                <a:latin typeface="Arial"/>
              </a:rPr>
              <a:t>4 / 7</a:t>
            </a:r>
          </a:p>
        </p:txBody>
      </p:sp>
      <p:pic>
        <p:nvPicPr>
          <p:cNvPr id="8" name="Picture 7" descr="external.png">
            <a:hlinkClick r:id="rId2"/>
          </p:cNvPr>
          <p:cNvPicPr>
            <a:picLocks noChangeAspect="1"/>
          </p:cNvPicPr>
          <p:nvPr/>
        </p:nvPicPr>
        <p:blipFill>
          <a:blip r:embed="rId4"/>
          <a:stretch>
            <a:fillRect/>
          </a:stretch>
        </p:blipFill>
        <p:spPr>
          <a:xfrm>
            <a:off x="457200" y="1325880"/>
            <a:ext cx="9738360" cy="5951220"/>
          </a:xfrm>
          <a:prstGeom prst="rect">
            <a:avLst/>
          </a:prstGeom>
        </p:spPr>
      </p:pic>
      <p:sp>
        <p:nvSpPr>
          <p:cNvPr id="9" name="Rectangle 8"/>
          <p:cNvSpPr/>
          <p:nvPr/>
        </p:nvSpPr>
        <p:spPr>
          <a:xfrm>
            <a:off x="457200" y="1325880"/>
            <a:ext cx="9738360" cy="5951220"/>
          </a:xfrm>
          <a:prstGeom prst="rect">
            <a:avLst/>
          </a:prstGeom>
          <a:noFill/>
          <a:ln w="7620">
            <a:solidFill>
              <a:srgbClr val="D5DBD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020318" y="5527780"/>
            <a:ext cx="1475872" cy="307467"/>
          </a:xfrm>
          <a:prstGeom prst="rect">
            <a:avLst/>
          </a:prstGeom>
          <a:noFill/>
          <a:ln w="25400">
            <a:solidFill>
              <a:srgbClr val="AE91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896874" y="5404336"/>
            <a:ext cx="310896" cy="310896"/>
          </a:xfrm>
          <a:prstGeom prst="ellipse">
            <a:avLst/>
          </a:prstGeom>
          <a:solidFill>
            <a:srgbClr val="0C234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Arial"/>
              </a:rPr>
              <a:t>1</a:t>
            </a:r>
          </a:p>
        </p:txBody>
      </p:sp>
      <p:sp>
        <p:nvSpPr>
          <p:cNvPr id="12" name="Oval 11"/>
          <p:cNvSpPr/>
          <p:nvPr/>
        </p:nvSpPr>
        <p:spPr>
          <a:xfrm>
            <a:off x="10497312" y="1801368"/>
            <a:ext cx="310896" cy="310896"/>
          </a:xfrm>
          <a:prstGeom prst="ellipse">
            <a:avLst/>
          </a:prstGeom>
          <a:solidFill>
            <a:srgbClr val="0C234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Arial"/>
              </a:rPr>
              <a:t>1</a:t>
            </a:r>
          </a:p>
        </p:txBody>
      </p:sp>
      <p:sp>
        <p:nvSpPr>
          <p:cNvPr id="13" name="TextBox 12"/>
          <p:cNvSpPr txBox="1"/>
          <p:nvPr/>
        </p:nvSpPr>
        <p:spPr>
          <a:xfrm>
            <a:off x="10972800" y="1828800"/>
            <a:ext cx="3200400" cy="502920"/>
          </a:xfrm>
          <a:prstGeom prst="rect">
            <a:avLst/>
          </a:prstGeom>
          <a:noFill/>
        </p:spPr>
        <p:txBody>
          <a:bodyPr wrap="square" lIns="0" rIns="0" tIns="0" bIns="0" anchor="t">
            <a:spAutoFit/>
          </a:bodyPr>
          <a:lstStyle/>
          <a:p>
            <a:pPr>
              <a:lnSpc>
                <a:spcPct val="115000"/>
              </a:lnSpc>
              <a:spcAft>
                <a:spcPts val="0"/>
              </a:spcAft>
            </a:pPr>
            <a:r>
              <a:rPr sz="1800" b="1">
                <a:solidFill>
                  <a:srgbClr val="0C2340"/>
                </a:solidFill>
                <a:latin typeface="Arial"/>
              </a:rPr>
              <a:t>The arrow signals</a:t>
            </a:r>
          </a:p>
          <a:p>
            <a:pPr>
              <a:lnSpc>
                <a:spcPct val="115000"/>
              </a:lnSpc>
              <a:spcAft>
                <a:spcPts val="0"/>
              </a:spcAft>
            </a:pPr>
            <a:r>
              <a:rPr sz="1800" b="1">
                <a:solidFill>
                  <a:srgbClr val="0C2340"/>
                </a:solidFill>
                <a:latin typeface="Arial"/>
              </a:rPr>
              <a:t>an offsite destination</a:t>
            </a:r>
          </a:p>
        </p:txBody>
      </p:sp>
      <p:sp>
        <p:nvSpPr>
          <p:cNvPr id="14" name="TextBox 13"/>
          <p:cNvSpPr txBox="1"/>
          <p:nvPr/>
        </p:nvSpPr>
        <p:spPr>
          <a:xfrm>
            <a:off x="10972800" y="2414016"/>
            <a:ext cx="3154680" cy="914400"/>
          </a:xfrm>
          <a:prstGeom prst="rect">
            <a:avLst/>
          </a:prstGeom>
          <a:noFill/>
        </p:spPr>
        <p:txBody>
          <a:bodyPr wrap="square" lIns="0" rIns="0" tIns="0" bIns="0" anchor="t">
            <a:spAutoFit/>
          </a:bodyPr>
          <a:lstStyle/>
          <a:p>
            <a:pPr>
              <a:lnSpc>
                <a:spcPct val="115000"/>
              </a:lnSpc>
              <a:spcAft>
                <a:spcPts val="0"/>
              </a:spcAft>
            </a:pPr>
            <a:r>
              <a:rPr sz="1400" b="0">
                <a:solidFill>
                  <a:srgbClr val="52616D"/>
                </a:solidFill>
                <a:latin typeface="Arial"/>
              </a:rPr>
              <a:t>Clicking the name opens</a:t>
            </a:r>
          </a:p>
          <a:p>
            <a:pPr>
              <a:lnSpc>
                <a:spcPct val="115000"/>
              </a:lnSpc>
              <a:spcAft>
                <a:spcPts val="0"/>
              </a:spcAft>
            </a:pPr>
            <a:r>
              <a:rPr sz="1400" b="0">
                <a:solidFill>
                  <a:srgbClr val="52616D"/>
                </a:solidFill>
                <a:latin typeface="Arial"/>
              </a:rPr>
              <a:t>the school’s full profile.</a:t>
            </a:r>
          </a:p>
        </p:txBody>
      </p:sp>
      <p:sp>
        <p:nvSpPr>
          <p:cNvPr id="15" name="TextBox 14"/>
          <p:cNvSpPr txBox="1"/>
          <p:nvPr/>
        </p:nvSpPr>
        <p:spPr>
          <a:xfrm>
            <a:off x="10972800" y="4663440"/>
            <a:ext cx="3200400" cy="1280160"/>
          </a:xfrm>
          <a:prstGeom prst="rect">
            <a:avLst/>
          </a:prstGeom>
          <a:noFill/>
        </p:spPr>
        <p:txBody>
          <a:bodyPr wrap="square" lIns="0" rIns="0" tIns="0" bIns="0" anchor="t">
            <a:spAutoFit/>
          </a:bodyPr>
          <a:lstStyle/>
          <a:p>
            <a:pPr>
              <a:lnSpc>
                <a:spcPct val="115000"/>
              </a:lnSpc>
              <a:spcAft>
                <a:spcPts val="0"/>
              </a:spcAft>
            </a:pPr>
            <a:r>
              <a:rPr sz="1800" b="1">
                <a:solidFill>
                  <a:srgbClr val="0C2340"/>
                </a:solidFill>
                <a:latin typeface="Arial"/>
              </a:rPr>
              <a:t>No intermediate</a:t>
            </a:r>
          </a:p>
          <a:p>
            <a:pPr>
              <a:lnSpc>
                <a:spcPct val="115000"/>
              </a:lnSpc>
              <a:spcAft>
                <a:spcPts val="0"/>
              </a:spcAft>
            </a:pPr>
            <a:r>
              <a:rPr sz="1800" b="1">
                <a:solidFill>
                  <a:srgbClr val="0C2340"/>
                </a:solidFill>
                <a:latin typeface="Arial"/>
              </a:rPr>
              <a:t>institute bio page.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00" cy="50292"/>
          </a:xfrm>
          <a:prstGeom prst="rect">
            <a:avLst/>
          </a:prstGeom>
          <a:solidFill>
            <a:srgbClr val="AE91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13716000" cy="182880"/>
          </a:xfrm>
          <a:prstGeom prst="rect">
            <a:avLst/>
          </a:prstGeom>
          <a:noFill/>
        </p:spPr>
        <p:txBody>
          <a:bodyPr wrap="square" lIns="0" rIns="0" tIns="0" bIns="0" anchor="t">
            <a:spAutoFit/>
          </a:bodyPr>
          <a:lstStyle/>
          <a:p>
            <a:pPr>
              <a:lnSpc>
                <a:spcPct val="115000"/>
              </a:lnSpc>
              <a:spcAft>
                <a:spcPts val="0"/>
              </a:spcAft>
            </a:pPr>
            <a:r>
              <a:rPr sz="900" b="1">
                <a:solidFill>
                  <a:srgbClr val="52616D"/>
                </a:solidFill>
                <a:latin typeface="Arial"/>
              </a:rPr>
              <a:t>PROPOSED STANDARD  /  INSTITUTE PEOPLE PAGES</a:t>
            </a:r>
          </a:p>
        </p:txBody>
      </p:sp>
      <p:sp>
        <p:nvSpPr>
          <p:cNvPr id="4" name="TextBox 3"/>
          <p:cNvSpPr txBox="1"/>
          <p:nvPr/>
        </p:nvSpPr>
        <p:spPr>
          <a:xfrm>
            <a:off x="457200" y="502920"/>
            <a:ext cx="13716000" cy="548640"/>
          </a:xfrm>
          <a:prstGeom prst="rect">
            <a:avLst/>
          </a:prstGeom>
          <a:noFill/>
        </p:spPr>
        <p:txBody>
          <a:bodyPr wrap="square" lIns="0" rIns="0" tIns="0" bIns="0" anchor="t">
            <a:spAutoFit/>
          </a:bodyPr>
          <a:lstStyle/>
          <a:p>
            <a:pPr>
              <a:lnSpc>
                <a:spcPct val="115000"/>
              </a:lnSpc>
              <a:spcAft>
                <a:spcPts val="0"/>
              </a:spcAft>
            </a:pPr>
            <a:r>
              <a:rPr sz="3000" b="1">
                <a:solidFill>
                  <a:srgbClr val="0C2340"/>
                </a:solidFill>
                <a:latin typeface="Arial"/>
              </a:rPr>
              <a:t>A full biography lives on the institute site</a:t>
            </a:r>
          </a:p>
        </p:txBody>
      </p:sp>
      <p:sp>
        <p:nvSpPr>
          <p:cNvPr id="5" name="TextBox 4"/>
          <p:cNvSpPr txBox="1"/>
          <p:nvPr/>
        </p:nvSpPr>
        <p:spPr>
          <a:xfrm>
            <a:off x="457200" y="7973568"/>
            <a:ext cx="9144000" cy="164592"/>
          </a:xfrm>
          <a:prstGeom prst="rect">
            <a:avLst/>
          </a:prstGeom>
          <a:noFill/>
        </p:spPr>
        <p:txBody>
          <a:bodyPr wrap="square" lIns="0" rIns="0" tIns="0" bIns="0" anchor="t">
            <a:spAutoFit/>
          </a:bodyPr>
          <a:lstStyle/>
          <a:p>
            <a:pPr>
              <a:lnSpc>
                <a:spcPct val="115000"/>
              </a:lnSpc>
              <a:spcAft>
                <a:spcPts val="0"/>
              </a:spcAft>
            </a:pPr>
            <a:r>
              <a:rPr sz="900" b="0">
                <a:solidFill>
                  <a:srgbClr val="52616D"/>
                </a:solidFill>
                <a:latin typeface="Arial"/>
              </a:rPr>
              <a:t>DRAFT FOR FEEDBACK  ·  Profile destination 2</a:t>
            </a:r>
          </a:p>
        </p:txBody>
      </p:sp>
      <p:sp>
        <p:nvSpPr>
          <p:cNvPr id="6" name="TextBox 5"/>
          <p:cNvSpPr txBox="1"/>
          <p:nvPr/>
        </p:nvSpPr>
        <p:spPr>
          <a:xfrm>
            <a:off x="11338560" y="7973568"/>
            <a:ext cx="2377440" cy="164592"/>
          </a:xfrm>
          <a:prstGeom prst="rect">
            <a:avLst/>
          </a:prstGeom>
          <a:noFill/>
        </p:spPr>
        <p:txBody>
          <a:bodyPr wrap="square" lIns="0" rIns="0" tIns="0" bIns="0" anchor="t">
            <a:spAutoFit/>
          </a:bodyPr>
          <a:lstStyle/>
          <a:p>
            <a:pPr>
              <a:lnSpc>
                <a:spcPct val="115000"/>
              </a:lnSpc>
              <a:spcAft>
                <a:spcPts val="0"/>
              </a:spcAft>
            </a:pPr>
            <a:r>
              <a:rPr sz="900" b="0">
                <a:solidFill>
                  <a:srgbClr val="52616D"/>
                </a:solidFill>
                <a:latin typeface="Arial"/>
                <a:hlinkClick r:id="rId2"/>
              </a:rPr>
              <a:t>Open the live example</a:t>
            </a:r>
          </a:p>
        </p:txBody>
      </p:sp>
      <p:sp>
        <p:nvSpPr>
          <p:cNvPr id="7" name="TextBox 6"/>
          <p:cNvSpPr txBox="1"/>
          <p:nvPr/>
        </p:nvSpPr>
        <p:spPr>
          <a:xfrm>
            <a:off x="13944600" y="7973568"/>
            <a:ext cx="457200" cy="164592"/>
          </a:xfrm>
          <a:prstGeom prst="rect">
            <a:avLst/>
          </a:prstGeom>
          <a:noFill/>
        </p:spPr>
        <p:txBody>
          <a:bodyPr wrap="square" lIns="0" rIns="0" tIns="0" bIns="0" anchor="t">
            <a:spAutoFit/>
          </a:bodyPr>
          <a:lstStyle/>
          <a:p>
            <a:pPr>
              <a:lnSpc>
                <a:spcPct val="115000"/>
              </a:lnSpc>
              <a:spcAft>
                <a:spcPts val="0"/>
              </a:spcAft>
            </a:pPr>
            <a:r>
              <a:rPr sz="900" b="0">
                <a:solidFill>
                  <a:srgbClr val="52616D"/>
                </a:solidFill>
                <a:latin typeface="Arial"/>
              </a:rPr>
              <a:t>5 / 7</a:t>
            </a:r>
          </a:p>
        </p:txBody>
      </p:sp>
      <p:pic>
        <p:nvPicPr>
          <p:cNvPr id="8" name="Picture 7" descr="full.png">
            <a:hlinkClick r:id="rId2"/>
          </p:cNvPr>
          <p:cNvPicPr>
            <a:picLocks noChangeAspect="1"/>
          </p:cNvPicPr>
          <p:nvPr/>
        </p:nvPicPr>
        <p:blipFill>
          <a:blip r:embed="rId4"/>
          <a:stretch>
            <a:fillRect/>
          </a:stretch>
        </p:blipFill>
        <p:spPr>
          <a:xfrm>
            <a:off x="457200" y="1234440"/>
            <a:ext cx="7772400" cy="6514011"/>
          </a:xfrm>
          <a:prstGeom prst="rect">
            <a:avLst/>
          </a:prstGeom>
        </p:spPr>
      </p:pic>
      <p:sp>
        <p:nvSpPr>
          <p:cNvPr id="9" name="Rectangle 8"/>
          <p:cNvSpPr/>
          <p:nvPr/>
        </p:nvSpPr>
        <p:spPr>
          <a:xfrm>
            <a:off x="457200" y="1234440"/>
            <a:ext cx="7772400" cy="6514011"/>
          </a:xfrm>
          <a:prstGeom prst="rect">
            <a:avLst/>
          </a:prstGeom>
          <a:noFill/>
          <a:ln w="7620">
            <a:solidFill>
              <a:srgbClr val="D5DBD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17655" y="1300863"/>
            <a:ext cx="7259029" cy="1248373"/>
          </a:xfrm>
          <a:prstGeom prst="rect">
            <a:avLst/>
          </a:prstGeom>
          <a:noFill/>
          <a:ln w="25400">
            <a:solidFill>
              <a:srgbClr val="AE91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494211" y="1177419"/>
            <a:ext cx="310896" cy="310896"/>
          </a:xfrm>
          <a:prstGeom prst="ellipse">
            <a:avLst/>
          </a:prstGeom>
          <a:solidFill>
            <a:srgbClr val="0C234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Arial"/>
              </a:rPr>
              <a:t>1</a:t>
            </a:r>
          </a:p>
        </p:txBody>
      </p:sp>
      <p:sp>
        <p:nvSpPr>
          <p:cNvPr id="12" name="Rectangle 11"/>
          <p:cNvSpPr/>
          <p:nvPr/>
        </p:nvSpPr>
        <p:spPr>
          <a:xfrm>
            <a:off x="617655" y="3088515"/>
            <a:ext cx="4752199" cy="2654807"/>
          </a:xfrm>
          <a:prstGeom prst="rect">
            <a:avLst/>
          </a:prstGeom>
          <a:noFill/>
          <a:ln w="25400">
            <a:solidFill>
              <a:srgbClr val="AE91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94211" y="2965071"/>
            <a:ext cx="310896" cy="310896"/>
          </a:xfrm>
          <a:prstGeom prst="ellipse">
            <a:avLst/>
          </a:prstGeom>
          <a:solidFill>
            <a:srgbClr val="0C234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Arial"/>
              </a:rPr>
              <a:t>2</a:t>
            </a:r>
          </a:p>
        </p:txBody>
      </p:sp>
      <p:sp>
        <p:nvSpPr>
          <p:cNvPr id="14" name="Rectangle 13"/>
          <p:cNvSpPr/>
          <p:nvPr/>
        </p:nvSpPr>
        <p:spPr>
          <a:xfrm>
            <a:off x="5631547" y="3088515"/>
            <a:ext cx="2245137" cy="3913196"/>
          </a:xfrm>
          <a:prstGeom prst="rect">
            <a:avLst/>
          </a:prstGeom>
          <a:noFill/>
          <a:ln w="25400">
            <a:solidFill>
              <a:srgbClr val="AE91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5508103" y="2965071"/>
            <a:ext cx="310896" cy="310896"/>
          </a:xfrm>
          <a:prstGeom prst="ellipse">
            <a:avLst/>
          </a:prstGeom>
          <a:solidFill>
            <a:srgbClr val="0C234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Arial"/>
              </a:rPr>
              <a:t>3</a:t>
            </a:r>
          </a:p>
        </p:txBody>
      </p:sp>
      <p:sp>
        <p:nvSpPr>
          <p:cNvPr id="16" name="Oval 15"/>
          <p:cNvSpPr/>
          <p:nvPr/>
        </p:nvSpPr>
        <p:spPr>
          <a:xfrm>
            <a:off x="10497312" y="1527048"/>
            <a:ext cx="310896" cy="310896"/>
          </a:xfrm>
          <a:prstGeom prst="ellipse">
            <a:avLst/>
          </a:prstGeom>
          <a:solidFill>
            <a:srgbClr val="0C234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Arial"/>
              </a:rPr>
              <a:t>1</a:t>
            </a:r>
          </a:p>
        </p:txBody>
      </p:sp>
      <p:sp>
        <p:nvSpPr>
          <p:cNvPr id="17" name="TextBox 16"/>
          <p:cNvSpPr txBox="1"/>
          <p:nvPr/>
        </p:nvSpPr>
        <p:spPr>
          <a:xfrm>
            <a:off x="10972800" y="1554480"/>
            <a:ext cx="3200400" cy="502920"/>
          </a:xfrm>
          <a:prstGeom prst="rect">
            <a:avLst/>
          </a:prstGeom>
          <a:noFill/>
        </p:spPr>
        <p:txBody>
          <a:bodyPr wrap="square" lIns="0" rIns="0" tIns="0" bIns="0" anchor="t">
            <a:spAutoFit/>
          </a:bodyPr>
          <a:lstStyle/>
          <a:p>
            <a:pPr>
              <a:lnSpc>
                <a:spcPct val="115000"/>
              </a:lnSpc>
              <a:spcAft>
                <a:spcPts val="0"/>
              </a:spcAft>
            </a:pPr>
            <a:r>
              <a:rPr sz="1800" b="1">
                <a:solidFill>
                  <a:srgbClr val="0C2340"/>
                </a:solidFill>
                <a:latin typeface="Arial"/>
              </a:rPr>
              <a:t>Name + role</a:t>
            </a:r>
          </a:p>
        </p:txBody>
      </p:sp>
      <p:sp>
        <p:nvSpPr>
          <p:cNvPr id="18" name="Oval 17"/>
          <p:cNvSpPr/>
          <p:nvPr/>
        </p:nvSpPr>
        <p:spPr>
          <a:xfrm>
            <a:off x="10497312" y="2944368"/>
            <a:ext cx="310896" cy="310896"/>
          </a:xfrm>
          <a:prstGeom prst="ellipse">
            <a:avLst/>
          </a:prstGeom>
          <a:solidFill>
            <a:srgbClr val="0C234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Arial"/>
              </a:rPr>
              <a:t>2</a:t>
            </a:r>
          </a:p>
        </p:txBody>
      </p:sp>
      <p:sp>
        <p:nvSpPr>
          <p:cNvPr id="19" name="TextBox 18"/>
          <p:cNvSpPr txBox="1"/>
          <p:nvPr/>
        </p:nvSpPr>
        <p:spPr>
          <a:xfrm>
            <a:off x="10972800" y="2971800"/>
            <a:ext cx="3200400" cy="502920"/>
          </a:xfrm>
          <a:prstGeom prst="rect">
            <a:avLst/>
          </a:prstGeom>
          <a:noFill/>
        </p:spPr>
        <p:txBody>
          <a:bodyPr wrap="square" lIns="0" rIns="0" tIns="0" bIns="0" anchor="t">
            <a:spAutoFit/>
          </a:bodyPr>
          <a:lstStyle/>
          <a:p>
            <a:pPr>
              <a:lnSpc>
                <a:spcPct val="115000"/>
              </a:lnSpc>
              <a:spcAft>
                <a:spcPts val="0"/>
              </a:spcAft>
            </a:pPr>
            <a:r>
              <a:rPr sz="1800" b="1">
                <a:solidFill>
                  <a:srgbClr val="0C2340"/>
                </a:solidFill>
                <a:latin typeface="Arial"/>
              </a:rPr>
              <a:t>Full biography</a:t>
            </a:r>
          </a:p>
        </p:txBody>
      </p:sp>
      <p:sp>
        <p:nvSpPr>
          <p:cNvPr id="20" name="TextBox 19"/>
          <p:cNvSpPr txBox="1"/>
          <p:nvPr/>
        </p:nvSpPr>
        <p:spPr>
          <a:xfrm>
            <a:off x="10972800" y="3557016"/>
            <a:ext cx="3154680" cy="914400"/>
          </a:xfrm>
          <a:prstGeom prst="rect">
            <a:avLst/>
          </a:prstGeom>
          <a:noFill/>
        </p:spPr>
        <p:txBody>
          <a:bodyPr wrap="square" lIns="0" rIns="0" tIns="0" bIns="0" anchor="t">
            <a:spAutoFit/>
          </a:bodyPr>
          <a:lstStyle/>
          <a:p>
            <a:pPr>
              <a:lnSpc>
                <a:spcPct val="115000"/>
              </a:lnSpc>
              <a:spcAft>
                <a:spcPts val="0"/>
              </a:spcAft>
            </a:pPr>
            <a:r>
              <a:rPr sz="1400" b="0">
                <a:solidFill>
                  <a:srgbClr val="52616D"/>
                </a:solidFill>
                <a:latin typeface="Arial"/>
              </a:rPr>
              <a:t>Maintained by the institute.</a:t>
            </a:r>
          </a:p>
        </p:txBody>
      </p:sp>
      <p:sp>
        <p:nvSpPr>
          <p:cNvPr id="21" name="Oval 20"/>
          <p:cNvSpPr/>
          <p:nvPr/>
        </p:nvSpPr>
        <p:spPr>
          <a:xfrm>
            <a:off x="10497312" y="4681728"/>
            <a:ext cx="310896" cy="310896"/>
          </a:xfrm>
          <a:prstGeom prst="ellipse">
            <a:avLst/>
          </a:prstGeom>
          <a:solidFill>
            <a:srgbClr val="0C234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Arial"/>
              </a:rPr>
              <a:t>3</a:t>
            </a:r>
          </a:p>
        </p:txBody>
      </p:sp>
      <p:sp>
        <p:nvSpPr>
          <p:cNvPr id="22" name="TextBox 21"/>
          <p:cNvSpPr txBox="1"/>
          <p:nvPr/>
        </p:nvSpPr>
        <p:spPr>
          <a:xfrm>
            <a:off x="10972800" y="4709160"/>
            <a:ext cx="3200400" cy="502920"/>
          </a:xfrm>
          <a:prstGeom prst="rect">
            <a:avLst/>
          </a:prstGeom>
          <a:noFill/>
        </p:spPr>
        <p:txBody>
          <a:bodyPr wrap="square" lIns="0" rIns="0" tIns="0" bIns="0" anchor="t">
            <a:spAutoFit/>
          </a:bodyPr>
          <a:lstStyle/>
          <a:p>
            <a:pPr>
              <a:lnSpc>
                <a:spcPct val="115000"/>
              </a:lnSpc>
              <a:spcAft>
                <a:spcPts val="0"/>
              </a:spcAft>
            </a:pPr>
            <a:r>
              <a:rPr sz="1800" b="1">
                <a:solidFill>
                  <a:srgbClr val="0C2340"/>
                </a:solidFill>
                <a:latin typeface="Arial"/>
              </a:rPr>
              <a:t>Photo + contact details</a:t>
            </a:r>
          </a:p>
        </p:txBody>
      </p:sp>
      <p:sp>
        <p:nvSpPr>
          <p:cNvPr id="23" name="TextBox 22"/>
          <p:cNvSpPr txBox="1"/>
          <p:nvPr/>
        </p:nvSpPr>
        <p:spPr>
          <a:xfrm>
            <a:off x="10972800" y="5294376"/>
            <a:ext cx="3154680" cy="914400"/>
          </a:xfrm>
          <a:prstGeom prst="rect">
            <a:avLst/>
          </a:prstGeom>
          <a:noFill/>
        </p:spPr>
        <p:txBody>
          <a:bodyPr wrap="square" lIns="0" rIns="0" tIns="0" bIns="0" anchor="t">
            <a:spAutoFit/>
          </a:bodyPr>
          <a:lstStyle/>
          <a:p>
            <a:pPr>
              <a:lnSpc>
                <a:spcPct val="115000"/>
              </a:lnSpc>
              <a:spcAft>
                <a:spcPts val="0"/>
              </a:spcAft>
            </a:pPr>
            <a:r>
              <a:rPr sz="1400" b="0">
                <a:solidFill>
                  <a:srgbClr val="52616D"/>
                </a:solidFill>
                <a:latin typeface="Arial"/>
              </a:rPr>
              <a:t>Keep office and email</a:t>
            </a:r>
          </a:p>
          <a:p>
            <a:pPr>
              <a:lnSpc>
                <a:spcPct val="115000"/>
              </a:lnSpc>
              <a:spcAft>
                <a:spcPts val="0"/>
              </a:spcAft>
            </a:pPr>
            <a:r>
              <a:rPr sz="1400" b="0">
                <a:solidFill>
                  <a:srgbClr val="52616D"/>
                </a:solidFill>
                <a:latin typeface="Arial"/>
              </a:rPr>
              <a:t>with the portrait.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00" cy="50292"/>
          </a:xfrm>
          <a:prstGeom prst="rect">
            <a:avLst/>
          </a:prstGeom>
          <a:solidFill>
            <a:srgbClr val="AE91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13716000" cy="182880"/>
          </a:xfrm>
          <a:prstGeom prst="rect">
            <a:avLst/>
          </a:prstGeom>
          <a:noFill/>
        </p:spPr>
        <p:txBody>
          <a:bodyPr wrap="square" lIns="0" rIns="0" tIns="0" bIns="0" anchor="t">
            <a:spAutoFit/>
          </a:bodyPr>
          <a:lstStyle/>
          <a:p>
            <a:pPr>
              <a:lnSpc>
                <a:spcPct val="115000"/>
              </a:lnSpc>
              <a:spcAft>
                <a:spcPts val="0"/>
              </a:spcAft>
            </a:pPr>
            <a:r>
              <a:rPr sz="900" b="1">
                <a:solidFill>
                  <a:srgbClr val="52616D"/>
                </a:solidFill>
                <a:latin typeface="Arial"/>
              </a:rPr>
              <a:t>PROPOSED STANDARD  /  INSTITUTE PEOPLE PAGES</a:t>
            </a:r>
          </a:p>
        </p:txBody>
      </p:sp>
      <p:sp>
        <p:nvSpPr>
          <p:cNvPr id="4" name="TextBox 3"/>
          <p:cNvSpPr txBox="1"/>
          <p:nvPr/>
        </p:nvSpPr>
        <p:spPr>
          <a:xfrm>
            <a:off x="457200" y="502920"/>
            <a:ext cx="13716000" cy="548640"/>
          </a:xfrm>
          <a:prstGeom prst="rect">
            <a:avLst/>
          </a:prstGeom>
          <a:noFill/>
        </p:spPr>
        <p:txBody>
          <a:bodyPr wrap="square" lIns="0" rIns="0" tIns="0" bIns="0" anchor="t">
            <a:spAutoFit/>
          </a:bodyPr>
          <a:lstStyle/>
          <a:p>
            <a:pPr>
              <a:lnSpc>
                <a:spcPct val="115000"/>
              </a:lnSpc>
              <a:spcAft>
                <a:spcPts val="0"/>
              </a:spcAft>
            </a:pPr>
            <a:r>
              <a:rPr sz="3000" b="1">
                <a:solidFill>
                  <a:srgbClr val="0C2340"/>
                </a:solidFill>
                <a:latin typeface="Arial"/>
              </a:rPr>
              <a:t>An abridged biography adds institute context</a:t>
            </a:r>
          </a:p>
        </p:txBody>
      </p:sp>
      <p:sp>
        <p:nvSpPr>
          <p:cNvPr id="5" name="TextBox 4"/>
          <p:cNvSpPr txBox="1"/>
          <p:nvPr/>
        </p:nvSpPr>
        <p:spPr>
          <a:xfrm>
            <a:off x="457200" y="7973568"/>
            <a:ext cx="9144000" cy="164592"/>
          </a:xfrm>
          <a:prstGeom prst="rect">
            <a:avLst/>
          </a:prstGeom>
          <a:noFill/>
        </p:spPr>
        <p:txBody>
          <a:bodyPr wrap="square" lIns="0" rIns="0" tIns="0" bIns="0" anchor="t">
            <a:spAutoFit/>
          </a:bodyPr>
          <a:lstStyle/>
          <a:p>
            <a:pPr>
              <a:lnSpc>
                <a:spcPct val="115000"/>
              </a:lnSpc>
              <a:spcAft>
                <a:spcPts val="0"/>
              </a:spcAft>
            </a:pPr>
            <a:r>
              <a:rPr sz="900" b="0">
                <a:solidFill>
                  <a:srgbClr val="52616D"/>
                </a:solidFill>
                <a:latin typeface="Arial"/>
              </a:rPr>
              <a:t>DRAFT FOR FEEDBACK  ·  Profile destination 3</a:t>
            </a:r>
          </a:p>
        </p:txBody>
      </p:sp>
      <p:sp>
        <p:nvSpPr>
          <p:cNvPr id="6" name="TextBox 5"/>
          <p:cNvSpPr txBox="1"/>
          <p:nvPr/>
        </p:nvSpPr>
        <p:spPr>
          <a:xfrm>
            <a:off x="11338560" y="7973568"/>
            <a:ext cx="2377440" cy="164592"/>
          </a:xfrm>
          <a:prstGeom prst="rect">
            <a:avLst/>
          </a:prstGeom>
          <a:noFill/>
        </p:spPr>
        <p:txBody>
          <a:bodyPr wrap="square" lIns="0" rIns="0" tIns="0" bIns="0" anchor="t">
            <a:spAutoFit/>
          </a:bodyPr>
          <a:lstStyle/>
          <a:p>
            <a:pPr>
              <a:lnSpc>
                <a:spcPct val="115000"/>
              </a:lnSpc>
              <a:spcAft>
                <a:spcPts val="0"/>
              </a:spcAft>
            </a:pPr>
            <a:r>
              <a:rPr sz="900" b="0">
                <a:solidFill>
                  <a:srgbClr val="52616D"/>
                </a:solidFill>
                <a:latin typeface="Arial"/>
                <a:hlinkClick r:id="rId2"/>
              </a:rPr>
              <a:t>Open the live example</a:t>
            </a:r>
          </a:p>
        </p:txBody>
      </p:sp>
      <p:sp>
        <p:nvSpPr>
          <p:cNvPr id="7" name="TextBox 6"/>
          <p:cNvSpPr txBox="1"/>
          <p:nvPr/>
        </p:nvSpPr>
        <p:spPr>
          <a:xfrm>
            <a:off x="13944600" y="7973568"/>
            <a:ext cx="457200" cy="164592"/>
          </a:xfrm>
          <a:prstGeom prst="rect">
            <a:avLst/>
          </a:prstGeom>
          <a:noFill/>
        </p:spPr>
        <p:txBody>
          <a:bodyPr wrap="square" lIns="0" rIns="0" tIns="0" bIns="0" anchor="t">
            <a:spAutoFit/>
          </a:bodyPr>
          <a:lstStyle/>
          <a:p>
            <a:pPr>
              <a:lnSpc>
                <a:spcPct val="115000"/>
              </a:lnSpc>
              <a:spcAft>
                <a:spcPts val="0"/>
              </a:spcAft>
            </a:pPr>
            <a:r>
              <a:rPr sz="900" b="0">
                <a:solidFill>
                  <a:srgbClr val="52616D"/>
                </a:solidFill>
                <a:latin typeface="Arial"/>
              </a:rPr>
              <a:t>6 / 7</a:t>
            </a:r>
          </a:p>
        </p:txBody>
      </p:sp>
      <p:pic>
        <p:nvPicPr>
          <p:cNvPr id="8" name="Picture 7" descr="abridged.png">
            <a:hlinkClick r:id="rId2"/>
          </p:cNvPr>
          <p:cNvPicPr>
            <a:picLocks noChangeAspect="1"/>
          </p:cNvPicPr>
          <p:nvPr/>
        </p:nvPicPr>
        <p:blipFill>
          <a:blip r:embed="rId4"/>
          <a:stretch>
            <a:fillRect/>
          </a:stretch>
        </p:blipFill>
        <p:spPr>
          <a:xfrm>
            <a:off x="457200" y="1325880"/>
            <a:ext cx="9372600" cy="6516188"/>
          </a:xfrm>
          <a:prstGeom prst="rect">
            <a:avLst/>
          </a:prstGeom>
        </p:spPr>
      </p:pic>
      <p:sp>
        <p:nvSpPr>
          <p:cNvPr id="9" name="Rectangle 8"/>
          <p:cNvSpPr/>
          <p:nvPr/>
        </p:nvSpPr>
        <p:spPr>
          <a:xfrm>
            <a:off x="457200" y="1325880"/>
            <a:ext cx="9372600" cy="6516188"/>
          </a:xfrm>
          <a:prstGeom prst="rect">
            <a:avLst/>
          </a:prstGeom>
          <a:noFill/>
          <a:ln w="7620">
            <a:solidFill>
              <a:srgbClr val="D5DBD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57279" y="3568265"/>
            <a:ext cx="5717415" cy="2250948"/>
          </a:xfrm>
          <a:prstGeom prst="rect">
            <a:avLst/>
          </a:prstGeom>
          <a:noFill/>
          <a:ln w="25400">
            <a:solidFill>
              <a:srgbClr val="AE91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533835" y="3444821"/>
            <a:ext cx="310896" cy="310896"/>
          </a:xfrm>
          <a:prstGeom prst="ellipse">
            <a:avLst/>
          </a:prstGeom>
          <a:solidFill>
            <a:srgbClr val="0C234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Arial"/>
              </a:rPr>
              <a:t>1</a:t>
            </a:r>
          </a:p>
        </p:txBody>
      </p:sp>
      <p:sp>
        <p:nvSpPr>
          <p:cNvPr id="12" name="Rectangle 11"/>
          <p:cNvSpPr/>
          <p:nvPr/>
        </p:nvSpPr>
        <p:spPr>
          <a:xfrm>
            <a:off x="6703443" y="3568265"/>
            <a:ext cx="2694193" cy="4305806"/>
          </a:xfrm>
          <a:prstGeom prst="rect">
            <a:avLst/>
          </a:prstGeom>
          <a:noFill/>
          <a:ln w="25400">
            <a:solidFill>
              <a:srgbClr val="AE91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579999" y="3444821"/>
            <a:ext cx="310896" cy="310896"/>
          </a:xfrm>
          <a:prstGeom prst="ellipse">
            <a:avLst/>
          </a:prstGeom>
          <a:solidFill>
            <a:srgbClr val="0C234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Arial"/>
              </a:rPr>
              <a:t>2</a:t>
            </a:r>
          </a:p>
        </p:txBody>
      </p:sp>
      <p:sp>
        <p:nvSpPr>
          <p:cNvPr id="14" name="Rectangle 13"/>
          <p:cNvSpPr/>
          <p:nvPr/>
        </p:nvSpPr>
        <p:spPr>
          <a:xfrm>
            <a:off x="657279" y="5817689"/>
            <a:ext cx="2161545" cy="506556"/>
          </a:xfrm>
          <a:prstGeom prst="rect">
            <a:avLst/>
          </a:prstGeom>
          <a:noFill/>
          <a:ln w="25400">
            <a:solidFill>
              <a:srgbClr val="AE91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533835" y="5694245"/>
            <a:ext cx="310896" cy="310896"/>
          </a:xfrm>
          <a:prstGeom prst="ellipse">
            <a:avLst/>
          </a:prstGeom>
          <a:solidFill>
            <a:srgbClr val="0C234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Arial"/>
              </a:rPr>
              <a:t>3</a:t>
            </a:r>
          </a:p>
        </p:txBody>
      </p:sp>
      <p:sp>
        <p:nvSpPr>
          <p:cNvPr id="16" name="Oval 15"/>
          <p:cNvSpPr/>
          <p:nvPr/>
        </p:nvSpPr>
        <p:spPr>
          <a:xfrm>
            <a:off x="10497312" y="1572768"/>
            <a:ext cx="310896" cy="310896"/>
          </a:xfrm>
          <a:prstGeom prst="ellipse">
            <a:avLst/>
          </a:prstGeom>
          <a:solidFill>
            <a:srgbClr val="0C234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Arial"/>
              </a:rPr>
              <a:t>1</a:t>
            </a:r>
          </a:p>
        </p:txBody>
      </p:sp>
      <p:sp>
        <p:nvSpPr>
          <p:cNvPr id="17" name="TextBox 16"/>
          <p:cNvSpPr txBox="1"/>
          <p:nvPr/>
        </p:nvSpPr>
        <p:spPr>
          <a:xfrm>
            <a:off x="10972800" y="1600200"/>
            <a:ext cx="3200400" cy="502920"/>
          </a:xfrm>
          <a:prstGeom prst="rect">
            <a:avLst/>
          </a:prstGeom>
          <a:noFill/>
        </p:spPr>
        <p:txBody>
          <a:bodyPr wrap="square" lIns="0" rIns="0" tIns="0" bIns="0" anchor="t">
            <a:spAutoFit/>
          </a:bodyPr>
          <a:lstStyle/>
          <a:p>
            <a:pPr>
              <a:lnSpc>
                <a:spcPct val="115000"/>
              </a:lnSpc>
              <a:spcAft>
                <a:spcPts val="0"/>
              </a:spcAft>
            </a:pPr>
            <a:r>
              <a:rPr sz="1800" b="1">
                <a:solidFill>
                  <a:srgbClr val="0C2340"/>
                </a:solidFill>
                <a:latin typeface="Arial"/>
              </a:rPr>
              <a:t>Short, institute-specific</a:t>
            </a:r>
          </a:p>
          <a:p>
            <a:pPr>
              <a:lnSpc>
                <a:spcPct val="115000"/>
              </a:lnSpc>
              <a:spcAft>
                <a:spcPts val="0"/>
              </a:spcAft>
            </a:pPr>
            <a:r>
              <a:rPr sz="1800" b="1">
                <a:solidFill>
                  <a:srgbClr val="0C2340"/>
                </a:solidFill>
                <a:latin typeface="Arial"/>
              </a:rPr>
              <a:t>biography</a:t>
            </a:r>
          </a:p>
        </p:txBody>
      </p:sp>
      <p:sp>
        <p:nvSpPr>
          <p:cNvPr id="18" name="Oval 17"/>
          <p:cNvSpPr/>
          <p:nvPr/>
        </p:nvSpPr>
        <p:spPr>
          <a:xfrm>
            <a:off x="10497312" y="3264408"/>
            <a:ext cx="310896" cy="310896"/>
          </a:xfrm>
          <a:prstGeom prst="ellipse">
            <a:avLst/>
          </a:prstGeom>
          <a:solidFill>
            <a:srgbClr val="0C234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Arial"/>
              </a:rPr>
              <a:t>2</a:t>
            </a:r>
          </a:p>
        </p:txBody>
      </p:sp>
      <p:sp>
        <p:nvSpPr>
          <p:cNvPr id="19" name="TextBox 18"/>
          <p:cNvSpPr txBox="1"/>
          <p:nvPr/>
        </p:nvSpPr>
        <p:spPr>
          <a:xfrm>
            <a:off x="10972800" y="3291840"/>
            <a:ext cx="3200400" cy="502920"/>
          </a:xfrm>
          <a:prstGeom prst="rect">
            <a:avLst/>
          </a:prstGeom>
          <a:noFill/>
        </p:spPr>
        <p:txBody>
          <a:bodyPr wrap="square" lIns="0" rIns="0" tIns="0" bIns="0" anchor="t">
            <a:spAutoFit/>
          </a:bodyPr>
          <a:lstStyle/>
          <a:p>
            <a:pPr>
              <a:lnSpc>
                <a:spcPct val="115000"/>
              </a:lnSpc>
              <a:spcAft>
                <a:spcPts val="0"/>
              </a:spcAft>
            </a:pPr>
            <a:r>
              <a:rPr sz="1800" b="1">
                <a:solidFill>
                  <a:srgbClr val="0C2340"/>
                </a:solidFill>
                <a:latin typeface="Arial"/>
              </a:rPr>
              <a:t>Photo + office + email</a:t>
            </a:r>
          </a:p>
        </p:txBody>
      </p:sp>
      <p:sp>
        <p:nvSpPr>
          <p:cNvPr id="20" name="Oval 19"/>
          <p:cNvSpPr/>
          <p:nvPr/>
        </p:nvSpPr>
        <p:spPr>
          <a:xfrm>
            <a:off x="10497312" y="4727448"/>
            <a:ext cx="310896" cy="310896"/>
          </a:xfrm>
          <a:prstGeom prst="ellipse">
            <a:avLst/>
          </a:prstGeom>
          <a:solidFill>
            <a:srgbClr val="0C234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Arial"/>
              </a:rPr>
              <a:t>3</a:t>
            </a:r>
          </a:p>
        </p:txBody>
      </p:sp>
      <p:sp>
        <p:nvSpPr>
          <p:cNvPr id="21" name="TextBox 20"/>
          <p:cNvSpPr txBox="1"/>
          <p:nvPr/>
        </p:nvSpPr>
        <p:spPr>
          <a:xfrm>
            <a:off x="10972800" y="4754880"/>
            <a:ext cx="3200400" cy="502920"/>
          </a:xfrm>
          <a:prstGeom prst="rect">
            <a:avLst/>
          </a:prstGeom>
          <a:noFill/>
        </p:spPr>
        <p:txBody>
          <a:bodyPr wrap="square" lIns="0" rIns="0" tIns="0" bIns="0" anchor="t">
            <a:spAutoFit/>
          </a:bodyPr>
          <a:lstStyle/>
          <a:p>
            <a:pPr>
              <a:lnSpc>
                <a:spcPct val="115000"/>
              </a:lnSpc>
              <a:spcAft>
                <a:spcPts val="0"/>
              </a:spcAft>
            </a:pPr>
            <a:r>
              <a:rPr sz="1800" b="1">
                <a:solidFill>
                  <a:srgbClr val="0C2340"/>
                </a:solidFill>
                <a:latin typeface="Arial"/>
              </a:rPr>
              <a:t>Button to the full bio</a:t>
            </a:r>
          </a:p>
        </p:txBody>
      </p:sp>
      <p:sp>
        <p:nvSpPr>
          <p:cNvPr id="22" name="TextBox 21"/>
          <p:cNvSpPr txBox="1"/>
          <p:nvPr/>
        </p:nvSpPr>
        <p:spPr>
          <a:xfrm>
            <a:off x="10972800" y="5340096"/>
            <a:ext cx="3154680" cy="914400"/>
          </a:xfrm>
          <a:prstGeom prst="rect">
            <a:avLst/>
          </a:prstGeom>
          <a:noFill/>
        </p:spPr>
        <p:txBody>
          <a:bodyPr wrap="square" lIns="0" rIns="0" tIns="0" bIns="0" anchor="t">
            <a:spAutoFit/>
          </a:bodyPr>
          <a:lstStyle/>
          <a:p>
            <a:pPr>
              <a:lnSpc>
                <a:spcPct val="115000"/>
              </a:lnSpc>
              <a:spcAft>
                <a:spcPts val="0"/>
              </a:spcAft>
            </a:pPr>
            <a:r>
              <a:rPr sz="1400" b="0">
                <a:solidFill>
                  <a:srgbClr val="52616D"/>
                </a:solidFill>
                <a:latin typeface="Arial"/>
              </a:rPr>
              <a:t>Hosted outside the</a:t>
            </a:r>
          </a:p>
          <a:p>
            <a:pPr>
              <a:lnSpc>
                <a:spcPct val="115000"/>
              </a:lnSpc>
              <a:spcAft>
                <a:spcPts val="0"/>
              </a:spcAft>
            </a:pPr>
            <a:r>
              <a:rPr sz="1400" b="0">
                <a:solidFill>
                  <a:srgbClr val="52616D"/>
                </a:solidFill>
                <a:latin typeface="Arial"/>
              </a:rPr>
              <a:t>Keough School website.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00" cy="50292"/>
          </a:xfrm>
          <a:prstGeom prst="rect">
            <a:avLst/>
          </a:prstGeom>
          <a:solidFill>
            <a:srgbClr val="AE91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13716000" cy="182880"/>
          </a:xfrm>
          <a:prstGeom prst="rect">
            <a:avLst/>
          </a:prstGeom>
          <a:noFill/>
        </p:spPr>
        <p:txBody>
          <a:bodyPr wrap="square" lIns="0" rIns="0" tIns="0" bIns="0" anchor="t">
            <a:spAutoFit/>
          </a:bodyPr>
          <a:lstStyle/>
          <a:p>
            <a:pPr>
              <a:lnSpc>
                <a:spcPct val="115000"/>
              </a:lnSpc>
              <a:spcAft>
                <a:spcPts val="0"/>
              </a:spcAft>
            </a:pPr>
            <a:r>
              <a:rPr sz="900" b="1">
                <a:solidFill>
                  <a:srgbClr val="52616D"/>
                </a:solidFill>
                <a:latin typeface="Arial"/>
              </a:rPr>
              <a:t>PROPOSED STANDARD  /  INSTITUTE PEOPLE PAGES</a:t>
            </a:r>
          </a:p>
        </p:txBody>
      </p:sp>
      <p:sp>
        <p:nvSpPr>
          <p:cNvPr id="4" name="TextBox 3"/>
          <p:cNvSpPr txBox="1"/>
          <p:nvPr/>
        </p:nvSpPr>
        <p:spPr>
          <a:xfrm>
            <a:off x="457200" y="502920"/>
            <a:ext cx="13716000" cy="548640"/>
          </a:xfrm>
          <a:prstGeom prst="rect">
            <a:avLst/>
          </a:prstGeom>
          <a:noFill/>
        </p:spPr>
        <p:txBody>
          <a:bodyPr wrap="square" lIns="0" rIns="0" tIns="0" bIns="0" anchor="t">
            <a:spAutoFit/>
          </a:bodyPr>
          <a:lstStyle/>
          <a:p>
            <a:pPr>
              <a:lnSpc>
                <a:spcPct val="115000"/>
              </a:lnSpc>
              <a:spcAft>
                <a:spcPts val="0"/>
              </a:spcAft>
            </a:pPr>
            <a:r>
              <a:rPr sz="3000" b="1">
                <a:solidFill>
                  <a:srgbClr val="0C2340"/>
                </a:solidFill>
                <a:latin typeface="Arial"/>
              </a:rPr>
              <a:t>Past affiliation can be a simple list</a:t>
            </a:r>
          </a:p>
        </p:txBody>
      </p:sp>
      <p:sp>
        <p:nvSpPr>
          <p:cNvPr id="5" name="TextBox 4"/>
          <p:cNvSpPr txBox="1"/>
          <p:nvPr/>
        </p:nvSpPr>
        <p:spPr>
          <a:xfrm>
            <a:off x="457200" y="7973568"/>
            <a:ext cx="9144000" cy="164592"/>
          </a:xfrm>
          <a:prstGeom prst="rect">
            <a:avLst/>
          </a:prstGeom>
          <a:noFill/>
        </p:spPr>
        <p:txBody>
          <a:bodyPr wrap="square" lIns="0" rIns="0" tIns="0" bIns="0" anchor="t">
            <a:spAutoFit/>
          </a:bodyPr>
          <a:lstStyle/>
          <a:p>
            <a:pPr>
              <a:lnSpc>
                <a:spcPct val="115000"/>
              </a:lnSpc>
              <a:spcAft>
                <a:spcPts val="0"/>
              </a:spcAft>
            </a:pPr>
            <a:r>
              <a:rPr sz="900" b="0">
                <a:solidFill>
                  <a:srgbClr val="52616D"/>
                </a:solidFill>
                <a:latin typeface="Arial"/>
              </a:rPr>
              <a:t>DRAFT FOR FEEDBACK  ·  Historical listings</a:t>
            </a:r>
          </a:p>
        </p:txBody>
      </p:sp>
      <p:sp>
        <p:nvSpPr>
          <p:cNvPr id="6" name="TextBox 5"/>
          <p:cNvSpPr txBox="1"/>
          <p:nvPr/>
        </p:nvSpPr>
        <p:spPr>
          <a:xfrm>
            <a:off x="11338560" y="7973568"/>
            <a:ext cx="2377440" cy="164592"/>
          </a:xfrm>
          <a:prstGeom prst="rect">
            <a:avLst/>
          </a:prstGeom>
          <a:noFill/>
        </p:spPr>
        <p:txBody>
          <a:bodyPr wrap="square" lIns="0" rIns="0" tIns="0" bIns="0" anchor="t">
            <a:spAutoFit/>
          </a:bodyPr>
          <a:lstStyle/>
          <a:p>
            <a:pPr>
              <a:lnSpc>
                <a:spcPct val="115000"/>
              </a:lnSpc>
              <a:spcAft>
                <a:spcPts val="0"/>
              </a:spcAft>
            </a:pPr>
            <a:r>
              <a:rPr sz="900" b="0">
                <a:solidFill>
                  <a:srgbClr val="52616D"/>
                </a:solidFill>
                <a:latin typeface="Arial"/>
                <a:hlinkClick r:id="rId2"/>
              </a:rPr>
              <a:t>Open the live example</a:t>
            </a:r>
          </a:p>
        </p:txBody>
      </p:sp>
      <p:sp>
        <p:nvSpPr>
          <p:cNvPr id="7" name="TextBox 6"/>
          <p:cNvSpPr txBox="1"/>
          <p:nvPr/>
        </p:nvSpPr>
        <p:spPr>
          <a:xfrm>
            <a:off x="13944600" y="7973568"/>
            <a:ext cx="457200" cy="164592"/>
          </a:xfrm>
          <a:prstGeom prst="rect">
            <a:avLst/>
          </a:prstGeom>
          <a:noFill/>
        </p:spPr>
        <p:txBody>
          <a:bodyPr wrap="square" lIns="0" rIns="0" tIns="0" bIns="0" anchor="t">
            <a:spAutoFit/>
          </a:bodyPr>
          <a:lstStyle/>
          <a:p>
            <a:pPr>
              <a:lnSpc>
                <a:spcPct val="115000"/>
              </a:lnSpc>
              <a:spcAft>
                <a:spcPts val="0"/>
              </a:spcAft>
            </a:pPr>
            <a:r>
              <a:rPr sz="900" b="0">
                <a:solidFill>
                  <a:srgbClr val="52616D"/>
                </a:solidFill>
                <a:latin typeface="Arial"/>
              </a:rPr>
              <a:t>7 / 7</a:t>
            </a:r>
          </a:p>
        </p:txBody>
      </p:sp>
      <p:sp>
        <p:nvSpPr>
          <p:cNvPr id="8" name="TextBox 7"/>
          <p:cNvSpPr txBox="1"/>
          <p:nvPr/>
        </p:nvSpPr>
        <p:spPr>
          <a:xfrm>
            <a:off x="502920" y="1234440"/>
            <a:ext cx="6217920" cy="411480"/>
          </a:xfrm>
          <a:prstGeom prst="rect">
            <a:avLst/>
          </a:prstGeom>
          <a:noFill/>
        </p:spPr>
        <p:txBody>
          <a:bodyPr wrap="square" lIns="0" rIns="0" tIns="0" bIns="0" anchor="t">
            <a:spAutoFit/>
          </a:bodyPr>
          <a:lstStyle/>
          <a:p>
            <a:pPr>
              <a:lnSpc>
                <a:spcPct val="115000"/>
              </a:lnSpc>
              <a:spcAft>
                <a:spcPts val="0"/>
              </a:spcAft>
            </a:pPr>
            <a:r>
              <a:rPr sz="2200" b="1">
                <a:solidFill>
                  <a:srgbClr val="0C2340"/>
                </a:solidFill>
                <a:latin typeface="Arial"/>
              </a:rPr>
              <a:t>Names only</a:t>
            </a:r>
          </a:p>
        </p:txBody>
      </p:sp>
      <p:sp>
        <p:nvSpPr>
          <p:cNvPr id="9" name="TextBox 8"/>
          <p:cNvSpPr txBox="1"/>
          <p:nvPr/>
        </p:nvSpPr>
        <p:spPr>
          <a:xfrm>
            <a:off x="7589520" y="1234440"/>
            <a:ext cx="6400800" cy="411480"/>
          </a:xfrm>
          <a:prstGeom prst="rect">
            <a:avLst/>
          </a:prstGeom>
          <a:noFill/>
        </p:spPr>
        <p:txBody>
          <a:bodyPr wrap="square" lIns="0" rIns="0" tIns="0" bIns="0" anchor="t">
            <a:spAutoFit/>
          </a:bodyPr>
          <a:lstStyle/>
          <a:p>
            <a:pPr>
              <a:lnSpc>
                <a:spcPct val="115000"/>
              </a:lnSpc>
              <a:spcAft>
                <a:spcPts val="0"/>
              </a:spcAft>
            </a:pPr>
            <a:r>
              <a:rPr sz="2200" b="1">
                <a:solidFill>
                  <a:srgbClr val="0C2340"/>
                </a:solidFill>
                <a:latin typeface="Arial"/>
              </a:rPr>
              <a:t>Images + names</a:t>
            </a:r>
          </a:p>
        </p:txBody>
      </p:sp>
      <p:pic>
        <p:nvPicPr>
          <p:cNvPr id="10" name="Picture 9" descr="names.png">
            <a:hlinkClick r:id="rId2"/>
          </p:cNvPr>
          <p:cNvPicPr>
            <a:picLocks noChangeAspect="1"/>
          </p:cNvPicPr>
          <p:nvPr/>
        </p:nvPicPr>
        <p:blipFill>
          <a:blip r:embed="rId4"/>
          <a:stretch>
            <a:fillRect/>
          </a:stretch>
        </p:blipFill>
        <p:spPr>
          <a:xfrm>
            <a:off x="502920" y="1874519"/>
            <a:ext cx="6492240" cy="3570732"/>
          </a:xfrm>
          <a:prstGeom prst="rect">
            <a:avLst/>
          </a:prstGeom>
        </p:spPr>
      </p:pic>
      <p:sp>
        <p:nvSpPr>
          <p:cNvPr id="11" name="Rectangle 10"/>
          <p:cNvSpPr/>
          <p:nvPr/>
        </p:nvSpPr>
        <p:spPr>
          <a:xfrm>
            <a:off x="502920" y="1874519"/>
            <a:ext cx="6492240" cy="3570732"/>
          </a:xfrm>
          <a:prstGeom prst="rect">
            <a:avLst/>
          </a:prstGeom>
          <a:noFill/>
          <a:ln w="7620">
            <a:solidFill>
              <a:srgbClr val="D5DBD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images.png">
            <a:hlinkClick r:id="rId6"/>
          </p:cNvPr>
          <p:cNvPicPr>
            <a:picLocks noChangeAspect="1"/>
          </p:cNvPicPr>
          <p:nvPr/>
        </p:nvPicPr>
        <p:blipFill>
          <a:blip r:embed="rId5"/>
          <a:stretch>
            <a:fillRect/>
          </a:stretch>
        </p:blipFill>
        <p:spPr>
          <a:xfrm>
            <a:off x="7589520" y="1874519"/>
            <a:ext cx="6492240" cy="5193792"/>
          </a:xfrm>
          <a:prstGeom prst="rect">
            <a:avLst/>
          </a:prstGeom>
        </p:spPr>
      </p:pic>
      <p:sp>
        <p:nvSpPr>
          <p:cNvPr id="13" name="Rectangle 12"/>
          <p:cNvSpPr/>
          <p:nvPr/>
        </p:nvSpPr>
        <p:spPr>
          <a:xfrm>
            <a:off x="7589520" y="1874519"/>
            <a:ext cx="6492240" cy="5193792"/>
          </a:xfrm>
          <a:prstGeom prst="rect">
            <a:avLst/>
          </a:prstGeom>
          <a:noFill/>
          <a:ln w="7620">
            <a:solidFill>
              <a:srgbClr val="D5DBD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7269480"/>
            <a:ext cx="13578840" cy="475488"/>
          </a:xfrm>
          <a:prstGeom prst="rect">
            <a:avLst/>
          </a:prstGeom>
          <a:solidFill>
            <a:srgbClr val="0C23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7240" y="7370064"/>
            <a:ext cx="12801600" cy="256032"/>
          </a:xfrm>
          <a:prstGeom prst="rect">
            <a:avLst/>
          </a:prstGeom>
          <a:noFill/>
        </p:spPr>
        <p:txBody>
          <a:bodyPr wrap="square" lIns="0" rIns="0" tIns="0" bIns="0" anchor="t">
            <a:spAutoFit/>
          </a:bodyPr>
          <a:lstStyle/>
          <a:p>
            <a:pPr>
              <a:lnSpc>
                <a:spcPct val="115000"/>
              </a:lnSpc>
              <a:spcAft>
                <a:spcPts val="0"/>
              </a:spcAft>
            </a:pPr>
            <a:r>
              <a:rPr sz="1600" b="1">
                <a:solidFill>
                  <a:srgbClr val="FFFFFF"/>
                </a:solidFill>
                <a:latin typeface="Arial"/>
              </a:rPr>
              <a:t>No profile links.  No biography to keep current.  Names and affiliations still need to be accurate.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People directories: a visual guide for institute communicators</dc:title>
  <dc:subject>Proposed standards — screenshot-led draft for feedback</dc:subject>
  <dc:creator>Keough School of Global Affairs</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