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People in top-level navigation. The landing title is People Directory. No category is selected on the hub. The five categories are Leadership, Faculty, Staff, Scholars &amp; Fellows, and Students. Four columns on desktop adapt to smaller screens. Leadership comes first; everyone else follows alphabetically by surname. Show each person once. No inset hero or introductory photo. Screenshot uses the 40-profile NDT4 example.</a:t>
            </a:r>
          </a:p>
          <a:p/>
          <a:p>
            <a:r>
              <a:t>Source / example: https://prugamba-nd.github.io/people-hub-mockup/screens/40/</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People Directory structure applies to NDT4, NDT3, and Notre Dame Theme 2.4. Keep each theme’s native visual styling; the standard defines navigation, page titles, sidebar groups, profile ordering, four desktop columns, profile destinations, and directory-size thresholds. Theme styles do not need to look identical. These screenshots are the current published theme examples. NDT3: https://prugamba-nd.github.io/people-hub-mockup/ndt3/ ; Theme 2.4: https://prugamba-nd.github.io/people-hub-mockup/ndt24/</a:t>
            </a:r>
          </a:p>
          <a:p/>
          <a:p>
            <a:r>
              <a:t>Source / example: https://prugamba-nd.github.io/people-hub-mockup/</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thresholds for the main directory, categories, and subcategories. Up to 24: all entries on one page, no pagination. 25–40: 24 per page, native pagination below the grid. More than 40: same pagination plus scoped search and relevant filters. 40 means two pages (24 and 16); 60 means three pages (24, 24, and 12). Screenshots intentionally show top-of-page and bottom-of-list excerpts rather than shrinking a whole long page. The 24-record illustration is rendered using the native NDT4 40-profile example reduced locally to 24 records for this deck. No live page was changed.</a:t>
            </a:r>
          </a:p>
          <a:p/>
          <a:p>
            <a:r>
              <a:t>Source / example: https://prugamba-nd.github.io/people-hub-mockup/screens/</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category opens a dedicated page, with one title and no lede or additional section headings. The default group is implicit: Faculty displays core affiliated faculty. Additional groups appear only beneath the selected parent. This capture removes the old extra Core Affiliated Faculty heading and sorts profiles by surname locally to illustrate the proposed standard; the live category example may still contain it. Parent defaults: Leadership=institute leadership; Faculty=core affiliated faculty; Staff=institute staff; Scholars &amp; Fellows=visiting scholars and fellows; Students=undergraduate and graduate, excluding PhD. The reviewed draft also lists PhDs on the market under Scholars &amp; Fellows; retain for institute feedback.</a:t>
            </a:r>
          </a:p>
          <a:p/>
          <a:p>
            <a:r>
              <a:t>Source / example: https://prugamba-nd.github.io/people-hub-mockup/faculty/</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full biography is maintained on the Keough School website, the directory card links directly to that profile. Do not create an intermediate institute biography page. NDT4 supplies the external-link arrow automatically for external card URLs. The public school example is Scott Appleby; the card’s link and photo source are recorded in the prototype.</a:t>
            </a:r>
          </a:p>
          <a:p/>
          <a:p>
            <a:r>
              <a:t>Source / example: https://prugamba-nd.github.io/people-hub-mockup/profile-examples/external-profile/</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native biography layout shown on the Ann Firth page: name and role at the top, biography at left, portrait and contact details at right. The institute maintains the full biography. This example uses fictional Maren Okafor and reserved example.org contact details. Layout reference: https://president.nd.edu/about/leadership-and-staff/ann-firth/</a:t>
            </a:r>
          </a:p>
          <a:p/>
          <a:p>
            <a:r>
              <a:t>Source / example: https://prugamba-nd.github.io/people-hub-mockup/profile-examples/full-bio/</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same native biography layout. Keep the local text short and specific to the institute relationship. Retain office and email beneath the portrait. Link the button to the full biography maintained outside the Keough School website. The example uses Daniel Philpott’s public department profile. The complete biography, publications and contact information are maintained by the department; the local text explains the institute connection.</a:t>
            </a:r>
          </a:p>
          <a:p/>
          <a:p>
            <a:r>
              <a:t>Source / example: https://prugamba-nd.github.io/people-hub-mockup/profile-examples/abridged-bio/</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for historical groups whose current biographies the institute cannot maintain, such as former visiting professors. Names only or images and names; entries are not linked by default and do not require a local biography. Do not reproduce biographies your team cannot keep current. Check basic accuracy of names and historical affiliation. No separate pagination threshold for simple historical lists is established by this proposal. Both examples use fictional names. Image-and-name example: https://prugamba-nd.github.io/people-hub-mockup/profile-examples/images-and-names/</a:t>
            </a:r>
          </a:p>
          <a:p/>
          <a:p>
            <a:r>
              <a:t>Source / example: https://prugamba-nd.github.io/people-hub-mockup/profile-examples/names-only/</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screens/40/" TargetMode="Externa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 TargetMode="External"/><Relationship Id="rId3" Type="http://schemas.openxmlformats.org/officeDocument/2006/relationships/notesSlide" Target="../notesSlides/notesSlide2.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hyperlink" Target="https://prugamba-nd.github.io/people-hub-mockup/ndt3/" TargetMode="External"/><Relationship Id="rId7" Type="http://schemas.openxmlformats.org/officeDocument/2006/relationships/image" Target="../media/image4.png"/><Relationship Id="rId8" Type="http://schemas.openxmlformats.org/officeDocument/2006/relationships/hyperlink" Target="https://prugamba-nd.github.io/people-hub-mockup/ndt2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screens/" TargetMode="External"/><Relationship Id="rId3" Type="http://schemas.openxmlformats.org/officeDocument/2006/relationships/notesSlide" Target="../notesSlides/notesSlide3.xml"/><Relationship Id="rId4" Type="http://schemas.openxmlformats.org/officeDocument/2006/relationships/image" Target="../media/image5.png"/><Relationship Id="rId5" Type="http://schemas.openxmlformats.org/officeDocument/2006/relationships/hyperlink" Target="https://prugamba-nd.github.io/people-hub-mockup/screens/24/" TargetMode="External"/><Relationship Id="rId6" Type="http://schemas.openxmlformats.org/officeDocument/2006/relationships/hyperlink" Target="https://prugamba-nd.github.io/people-hub-mockup/screens/40/" TargetMode="External"/><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hyperlink" Target="https://prugamba-nd.github.io/people-hub-mockup/screens/60/" TargetMode="External"/><Relationship Id="rId10"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faculty/" TargetMode="External"/><Relationship Id="rId3" Type="http://schemas.openxmlformats.org/officeDocument/2006/relationships/notesSlide" Target="../notesSlides/notesSlide4.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profile-examples/external-profile/" TargetMode="External"/><Relationship Id="rId3" Type="http://schemas.openxmlformats.org/officeDocument/2006/relationships/notesSlide" Target="../notesSlides/notesSlide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profile-examples/full-bio/" TargetMode="External"/><Relationship Id="rId3" Type="http://schemas.openxmlformats.org/officeDocument/2006/relationships/notesSlide" Target="../notesSlides/notesSlide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profile-examples/abridged-bio/" TargetMode="External"/><Relationship Id="rId3" Type="http://schemas.openxmlformats.org/officeDocument/2006/relationships/notesSlide" Target="../notesSlides/notesSlide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profile-examples/names-only/" TargetMode="External"/><Relationship Id="rId3" Type="http://schemas.openxmlformats.org/officeDocument/2006/relationships/notesSlide" Target="../notesSlides/notesSlide8.xml"/><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hyperlink" Target="https://prugamba-nd.github.io/people-hub-mockup/profile-examples/images-and-name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People opens the directory</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Start here</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1 / 8</a:t>
            </a:r>
          </a:p>
        </p:txBody>
      </p:sp>
      <p:pic>
        <p:nvPicPr>
          <p:cNvPr id="8" name="Picture 7" descr="hub.png">
            <a:hlinkClick r:id="rId2"/>
          </p:cNvPr>
          <p:cNvPicPr>
            <a:picLocks noChangeAspect="1"/>
          </p:cNvPicPr>
          <p:nvPr/>
        </p:nvPicPr>
        <p:blipFill>
          <a:blip r:embed="rId4"/>
          <a:stretch>
            <a:fillRect/>
          </a:stretch>
        </p:blipFill>
        <p:spPr>
          <a:xfrm>
            <a:off x="457200" y="1143000"/>
            <a:ext cx="9738360" cy="6762750"/>
          </a:xfrm>
          <a:prstGeom prst="rect">
            <a:avLst/>
          </a:prstGeom>
        </p:spPr>
      </p:pic>
      <p:sp>
        <p:nvSpPr>
          <p:cNvPr id="9" name="Rectangle 8"/>
          <p:cNvSpPr/>
          <p:nvPr/>
        </p:nvSpPr>
        <p:spPr>
          <a:xfrm>
            <a:off x="457200" y="1143000"/>
            <a:ext cx="9738360" cy="6762750"/>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6386" y="1347692"/>
            <a:ext cx="657122" cy="464278"/>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52942" y="12242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Rectangle 11"/>
          <p:cNvSpPr/>
          <p:nvPr/>
        </p:nvSpPr>
        <p:spPr>
          <a:xfrm>
            <a:off x="3103245" y="2750962"/>
            <a:ext cx="6637401" cy="558005"/>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79801" y="262751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4" name="Rectangle 13"/>
          <p:cNvSpPr/>
          <p:nvPr/>
        </p:nvSpPr>
        <p:spPr>
          <a:xfrm>
            <a:off x="912114" y="2418214"/>
            <a:ext cx="1930527" cy="2295715"/>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88670" y="2294770"/>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6" name="Rectangle 15"/>
          <p:cNvSpPr/>
          <p:nvPr/>
        </p:nvSpPr>
        <p:spPr>
          <a:xfrm>
            <a:off x="3103245" y="3955049"/>
            <a:ext cx="6637401" cy="2194274"/>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979801" y="3831605"/>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18" name="Oval 17"/>
          <p:cNvSpPr/>
          <p:nvPr/>
        </p:nvSpPr>
        <p:spPr>
          <a:xfrm>
            <a:off x="10497312" y="15270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9" name="TextBox 18"/>
          <p:cNvSpPr txBox="1"/>
          <p:nvPr/>
        </p:nvSpPr>
        <p:spPr>
          <a:xfrm>
            <a:off x="10972800" y="15544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People in the</a:t>
            </a:r>
          </a:p>
          <a:p>
            <a:pPr>
              <a:lnSpc>
                <a:spcPct val="115000"/>
              </a:lnSpc>
              <a:spcAft>
                <a:spcPts val="0"/>
              </a:spcAft>
            </a:pPr>
            <a:r>
              <a:rPr sz="1800" b="1">
                <a:solidFill>
                  <a:srgbClr val="0C2340"/>
                </a:solidFill>
                <a:latin typeface="Arial"/>
              </a:rPr>
              <a:t>main navigation</a:t>
            </a:r>
          </a:p>
        </p:txBody>
      </p:sp>
      <p:sp>
        <p:nvSpPr>
          <p:cNvPr id="20" name="Oval 19"/>
          <p:cNvSpPr/>
          <p:nvPr/>
        </p:nvSpPr>
        <p:spPr>
          <a:xfrm>
            <a:off x="10497312" y="280720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21" name="TextBox 20"/>
          <p:cNvSpPr txBox="1"/>
          <p:nvPr/>
        </p:nvSpPr>
        <p:spPr>
          <a:xfrm>
            <a:off x="10972800" y="283464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One clear title</a:t>
            </a:r>
          </a:p>
        </p:txBody>
      </p:sp>
      <p:sp>
        <p:nvSpPr>
          <p:cNvPr id="22" name="TextBox 21"/>
          <p:cNvSpPr txBox="1"/>
          <p:nvPr/>
        </p:nvSpPr>
        <p:spPr>
          <a:xfrm>
            <a:off x="10972800" y="341985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People Directory</a:t>
            </a:r>
          </a:p>
        </p:txBody>
      </p:sp>
      <p:sp>
        <p:nvSpPr>
          <p:cNvPr id="23" name="Oval 22"/>
          <p:cNvSpPr/>
          <p:nvPr/>
        </p:nvSpPr>
        <p:spPr>
          <a:xfrm>
            <a:off x="10497312" y="399592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24" name="TextBox 23"/>
          <p:cNvSpPr txBox="1"/>
          <p:nvPr/>
        </p:nvSpPr>
        <p:spPr>
          <a:xfrm>
            <a:off x="10972800" y="402336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Five sidebar groups</a:t>
            </a:r>
          </a:p>
        </p:txBody>
      </p:sp>
      <p:sp>
        <p:nvSpPr>
          <p:cNvPr id="25" name="TextBox 24"/>
          <p:cNvSpPr txBox="1"/>
          <p:nvPr/>
        </p:nvSpPr>
        <p:spPr>
          <a:xfrm>
            <a:off x="10972800" y="460857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None selected on the hub.</a:t>
            </a:r>
          </a:p>
        </p:txBody>
      </p:sp>
      <p:sp>
        <p:nvSpPr>
          <p:cNvPr id="26" name="Oval 25"/>
          <p:cNvSpPr/>
          <p:nvPr/>
        </p:nvSpPr>
        <p:spPr>
          <a:xfrm>
            <a:off x="10497312" y="536752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27" name="TextBox 26"/>
          <p:cNvSpPr txBox="1"/>
          <p:nvPr/>
        </p:nvSpPr>
        <p:spPr>
          <a:xfrm>
            <a:off x="10972800" y="539496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Four columns</a:t>
            </a:r>
          </a:p>
        </p:txBody>
      </p:sp>
      <p:sp>
        <p:nvSpPr>
          <p:cNvPr id="28" name="TextBox 27"/>
          <p:cNvSpPr txBox="1"/>
          <p:nvPr/>
        </p:nvSpPr>
        <p:spPr>
          <a:xfrm>
            <a:off x="10972800" y="598017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Leadership first.</a:t>
            </a:r>
          </a:p>
          <a:p>
            <a:pPr>
              <a:lnSpc>
                <a:spcPct val="115000"/>
              </a:lnSpc>
              <a:spcAft>
                <a:spcPts val="0"/>
              </a:spcAft>
            </a:pPr>
            <a:r>
              <a:rPr sz="1400" b="0">
                <a:solidFill>
                  <a:srgbClr val="52616D"/>
                </a:solidFill>
                <a:latin typeface="Arial"/>
              </a:rPr>
              <a:t>Then surname A–Z.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One standard across every institute theme</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Theme-agnostic rules</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2 / 8</a:t>
            </a:r>
          </a:p>
        </p:txBody>
      </p:sp>
      <p:sp>
        <p:nvSpPr>
          <p:cNvPr id="8" name="TextBox 7"/>
          <p:cNvSpPr txBox="1"/>
          <p:nvPr/>
        </p:nvSpPr>
        <p:spPr>
          <a:xfrm>
            <a:off x="457200" y="1325880"/>
            <a:ext cx="4297680" cy="411480"/>
          </a:xfrm>
          <a:prstGeom prst="rect">
            <a:avLst/>
          </a:prstGeom>
          <a:noFill/>
        </p:spPr>
        <p:txBody>
          <a:bodyPr wrap="square" lIns="0" rIns="0" tIns="0" bIns="0" anchor="t">
            <a:spAutoFit/>
          </a:bodyPr>
          <a:lstStyle/>
          <a:p>
            <a:pPr>
              <a:lnSpc>
                <a:spcPct val="115000"/>
              </a:lnSpc>
              <a:spcAft>
                <a:spcPts val="0"/>
              </a:spcAft>
            </a:pPr>
            <a:r>
              <a:rPr sz="2400" b="1">
                <a:solidFill>
                  <a:srgbClr val="0C2340"/>
                </a:solidFill>
                <a:latin typeface="Arial"/>
              </a:rPr>
              <a:t>NDT4</a:t>
            </a:r>
          </a:p>
        </p:txBody>
      </p:sp>
      <p:pic>
        <p:nvPicPr>
          <p:cNvPr id="9" name="Picture 8" descr="theme-ndt4.png">
            <a:hlinkClick r:id="rId2"/>
          </p:cNvPr>
          <p:cNvPicPr>
            <a:picLocks noChangeAspect="1"/>
          </p:cNvPicPr>
          <p:nvPr/>
        </p:nvPicPr>
        <p:blipFill>
          <a:blip r:embed="rId4"/>
          <a:stretch>
            <a:fillRect/>
          </a:stretch>
        </p:blipFill>
        <p:spPr>
          <a:xfrm>
            <a:off x="457200" y="1874519"/>
            <a:ext cx="4251960" cy="2952750"/>
          </a:xfrm>
          <a:prstGeom prst="rect">
            <a:avLst/>
          </a:prstGeom>
        </p:spPr>
      </p:pic>
      <p:sp>
        <p:nvSpPr>
          <p:cNvPr id="10" name="Rectangle 9"/>
          <p:cNvSpPr/>
          <p:nvPr/>
        </p:nvSpPr>
        <p:spPr>
          <a:xfrm>
            <a:off x="457200" y="1874519"/>
            <a:ext cx="4251960" cy="2952750"/>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4648" y="1325880"/>
            <a:ext cx="4297680" cy="411480"/>
          </a:xfrm>
          <a:prstGeom prst="rect">
            <a:avLst/>
          </a:prstGeom>
          <a:noFill/>
        </p:spPr>
        <p:txBody>
          <a:bodyPr wrap="square" lIns="0" rIns="0" tIns="0" bIns="0" anchor="t">
            <a:spAutoFit/>
          </a:bodyPr>
          <a:lstStyle/>
          <a:p>
            <a:pPr>
              <a:lnSpc>
                <a:spcPct val="115000"/>
              </a:lnSpc>
              <a:spcAft>
                <a:spcPts val="0"/>
              </a:spcAft>
            </a:pPr>
            <a:r>
              <a:rPr sz="2400" b="1">
                <a:solidFill>
                  <a:srgbClr val="0C2340"/>
                </a:solidFill>
                <a:latin typeface="Arial"/>
              </a:rPr>
              <a:t>NDT3</a:t>
            </a:r>
          </a:p>
        </p:txBody>
      </p:sp>
      <p:pic>
        <p:nvPicPr>
          <p:cNvPr id="12" name="Picture 11" descr="theme-ndt3.png">
            <a:hlinkClick r:id="rId6"/>
          </p:cNvPr>
          <p:cNvPicPr>
            <a:picLocks noChangeAspect="1"/>
          </p:cNvPicPr>
          <p:nvPr/>
        </p:nvPicPr>
        <p:blipFill>
          <a:blip r:embed="rId5"/>
          <a:stretch>
            <a:fillRect/>
          </a:stretch>
        </p:blipFill>
        <p:spPr>
          <a:xfrm>
            <a:off x="5184648" y="1874519"/>
            <a:ext cx="4251960" cy="2952750"/>
          </a:xfrm>
          <a:prstGeom prst="rect">
            <a:avLst/>
          </a:prstGeom>
        </p:spPr>
      </p:pic>
      <p:sp>
        <p:nvSpPr>
          <p:cNvPr id="13" name="Rectangle 12"/>
          <p:cNvSpPr/>
          <p:nvPr/>
        </p:nvSpPr>
        <p:spPr>
          <a:xfrm>
            <a:off x="5184648" y="1874519"/>
            <a:ext cx="4251960" cy="2952750"/>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12096" y="1325880"/>
            <a:ext cx="4297680" cy="411480"/>
          </a:xfrm>
          <a:prstGeom prst="rect">
            <a:avLst/>
          </a:prstGeom>
          <a:noFill/>
        </p:spPr>
        <p:txBody>
          <a:bodyPr wrap="square" lIns="0" rIns="0" tIns="0" bIns="0" anchor="t">
            <a:spAutoFit/>
          </a:bodyPr>
          <a:lstStyle/>
          <a:p>
            <a:pPr>
              <a:lnSpc>
                <a:spcPct val="115000"/>
              </a:lnSpc>
              <a:spcAft>
                <a:spcPts val="0"/>
              </a:spcAft>
            </a:pPr>
            <a:r>
              <a:rPr sz="2400" b="1">
                <a:solidFill>
                  <a:srgbClr val="0C2340"/>
                </a:solidFill>
                <a:latin typeface="Arial"/>
              </a:rPr>
              <a:t>Theme 2.4</a:t>
            </a:r>
          </a:p>
        </p:txBody>
      </p:sp>
      <p:pic>
        <p:nvPicPr>
          <p:cNvPr id="15" name="Picture 14" descr="theme-ndt24.png">
            <a:hlinkClick r:id="rId8"/>
          </p:cNvPr>
          <p:cNvPicPr>
            <a:picLocks noChangeAspect="1"/>
          </p:cNvPicPr>
          <p:nvPr/>
        </p:nvPicPr>
        <p:blipFill>
          <a:blip r:embed="rId7"/>
          <a:stretch>
            <a:fillRect/>
          </a:stretch>
        </p:blipFill>
        <p:spPr>
          <a:xfrm>
            <a:off x="9912096" y="1874519"/>
            <a:ext cx="4251960" cy="2952750"/>
          </a:xfrm>
          <a:prstGeom prst="rect">
            <a:avLst/>
          </a:prstGeom>
        </p:spPr>
      </p:pic>
      <p:sp>
        <p:nvSpPr>
          <p:cNvPr id="16" name="Rectangle 15"/>
          <p:cNvSpPr/>
          <p:nvPr/>
        </p:nvSpPr>
        <p:spPr>
          <a:xfrm>
            <a:off x="9912096" y="1874519"/>
            <a:ext cx="4251960" cy="2952750"/>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5486400"/>
            <a:ext cx="13441680" cy="274320"/>
          </a:xfrm>
          <a:prstGeom prst="rect">
            <a:avLst/>
          </a:prstGeom>
          <a:noFill/>
        </p:spPr>
        <p:txBody>
          <a:bodyPr wrap="square" lIns="0" rIns="0" tIns="0" bIns="0" anchor="t">
            <a:spAutoFit/>
          </a:bodyPr>
          <a:lstStyle/>
          <a:p>
            <a:pPr>
              <a:lnSpc>
                <a:spcPct val="115000"/>
              </a:lnSpc>
              <a:spcAft>
                <a:spcPts val="0"/>
              </a:spcAft>
            </a:pPr>
            <a:r>
              <a:rPr sz="1200" b="1">
                <a:solidFill>
                  <a:srgbClr val="52616D"/>
                </a:solidFill>
                <a:latin typeface="Arial"/>
              </a:rPr>
              <a:t>KEEP EACH THEME’S NATIVE STYLING. USE THE SAME DIRECTORY RULES.</a:t>
            </a:r>
          </a:p>
        </p:txBody>
      </p:sp>
      <p:sp>
        <p:nvSpPr>
          <p:cNvPr id="18" name="Rectangle 17"/>
          <p:cNvSpPr/>
          <p:nvPr/>
        </p:nvSpPr>
        <p:spPr>
          <a:xfrm>
            <a:off x="457200" y="6080760"/>
            <a:ext cx="13670280"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6263640"/>
            <a:ext cx="12893040" cy="320040"/>
          </a:xfrm>
          <a:prstGeom prst="rect">
            <a:avLst/>
          </a:prstGeom>
          <a:noFill/>
        </p:spPr>
        <p:txBody>
          <a:bodyPr wrap="square" lIns="0" rIns="0" tIns="0" bIns="0" anchor="t">
            <a:spAutoFit/>
          </a:bodyPr>
          <a:lstStyle/>
          <a:p>
            <a:pPr>
              <a:lnSpc>
                <a:spcPct val="115000"/>
              </a:lnSpc>
              <a:spcAft>
                <a:spcPts val="0"/>
              </a:spcAft>
            </a:pPr>
            <a:r>
              <a:rPr sz="2200" b="1">
                <a:solidFill>
                  <a:srgbClr val="FFFFFF"/>
                </a:solidFill>
                <a:latin typeface="Arial"/>
              </a:rPr>
              <a:t>People → People Directory</a:t>
            </a:r>
          </a:p>
        </p:txBody>
      </p:sp>
      <p:sp>
        <p:nvSpPr>
          <p:cNvPr id="20" name="TextBox 19"/>
          <p:cNvSpPr txBox="1"/>
          <p:nvPr/>
        </p:nvSpPr>
        <p:spPr>
          <a:xfrm>
            <a:off x="777240" y="6766560"/>
            <a:ext cx="12893040" cy="274320"/>
          </a:xfrm>
          <a:prstGeom prst="rect">
            <a:avLst/>
          </a:prstGeom>
          <a:noFill/>
        </p:spPr>
        <p:txBody>
          <a:bodyPr wrap="square" lIns="0" rIns="0" tIns="0" bIns="0" anchor="t">
            <a:spAutoFit/>
          </a:bodyPr>
          <a:lstStyle/>
          <a:p>
            <a:pPr>
              <a:lnSpc>
                <a:spcPct val="115000"/>
              </a:lnSpc>
              <a:spcAft>
                <a:spcPts val="0"/>
              </a:spcAft>
            </a:pPr>
            <a:r>
              <a:rPr sz="1700" b="0">
                <a:solidFill>
                  <a:srgbClr val="FFFFFF"/>
                </a:solidFill>
                <a:latin typeface="Arial"/>
              </a:rPr>
              <a:t>Five sidebar groups  ·  Four desktop columns  ·  Same profile destinations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The number of profiles determines the controls</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Directory + category listings</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3 / 8</a:t>
            </a:r>
          </a:p>
        </p:txBody>
      </p:sp>
      <p:sp>
        <p:nvSpPr>
          <p:cNvPr id="8" name="TextBox 7"/>
          <p:cNvSpPr txBox="1"/>
          <p:nvPr/>
        </p:nvSpPr>
        <p:spPr>
          <a:xfrm>
            <a:off x="457200" y="1280160"/>
            <a:ext cx="4297680" cy="411480"/>
          </a:xfrm>
          <a:prstGeom prst="rect">
            <a:avLst/>
          </a:prstGeom>
          <a:noFill/>
        </p:spPr>
        <p:txBody>
          <a:bodyPr wrap="square" lIns="0" rIns="0" tIns="0" bIns="0" anchor="t">
            <a:spAutoFit/>
          </a:bodyPr>
          <a:lstStyle/>
          <a:p>
            <a:pPr>
              <a:lnSpc>
                <a:spcPct val="115000"/>
              </a:lnSpc>
              <a:spcAft>
                <a:spcPts val="0"/>
              </a:spcAft>
            </a:pPr>
            <a:r>
              <a:rPr sz="2600" b="1">
                <a:solidFill>
                  <a:srgbClr val="0C2340"/>
                </a:solidFill>
                <a:latin typeface="Arial"/>
              </a:rPr>
              <a:t>Up to 24 profiles</a:t>
            </a:r>
          </a:p>
        </p:txBody>
      </p:sp>
      <p:sp>
        <p:nvSpPr>
          <p:cNvPr id="9" name="TextBox 8"/>
          <p:cNvSpPr txBox="1"/>
          <p:nvPr/>
        </p:nvSpPr>
        <p:spPr>
          <a:xfrm>
            <a:off x="457200" y="1810512"/>
            <a:ext cx="4389120" cy="32004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All on one page</a:t>
            </a:r>
          </a:p>
        </p:txBody>
      </p:sp>
      <p:pic>
        <p:nvPicPr>
          <p:cNvPr id="10" name="Picture 9" descr="size-24-top.png">
            <a:hlinkClick r:id="rId5"/>
          </p:cNvPr>
          <p:cNvPicPr>
            <a:picLocks noChangeAspect="1"/>
          </p:cNvPicPr>
          <p:nvPr/>
        </p:nvPicPr>
        <p:blipFill>
          <a:blip r:embed="rId4"/>
          <a:stretch>
            <a:fillRect/>
          </a:stretch>
        </p:blipFill>
        <p:spPr>
          <a:xfrm>
            <a:off x="457200" y="2377440"/>
            <a:ext cx="4251960" cy="2253538"/>
          </a:xfrm>
          <a:prstGeom prst="rect">
            <a:avLst/>
          </a:prstGeom>
        </p:spPr>
      </p:pic>
      <p:sp>
        <p:nvSpPr>
          <p:cNvPr id="11" name="Rectangle 10"/>
          <p:cNvSpPr/>
          <p:nvPr/>
        </p:nvSpPr>
        <p:spPr>
          <a:xfrm>
            <a:off x="457200" y="2377440"/>
            <a:ext cx="4251960" cy="2253538"/>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5870448"/>
            <a:ext cx="4297680" cy="45720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No pagination.</a:t>
            </a:r>
          </a:p>
          <a:p>
            <a:pPr>
              <a:lnSpc>
                <a:spcPct val="115000"/>
              </a:lnSpc>
              <a:spcAft>
                <a:spcPts val="0"/>
              </a:spcAft>
            </a:pPr>
            <a:r>
              <a:rPr sz="1800" b="1">
                <a:solidFill>
                  <a:srgbClr val="0C2340"/>
                </a:solidFill>
                <a:latin typeface="Arial"/>
              </a:rPr>
              <a:t>No search or filters.</a:t>
            </a:r>
          </a:p>
        </p:txBody>
      </p:sp>
      <p:sp>
        <p:nvSpPr>
          <p:cNvPr id="13" name="TextBox 12"/>
          <p:cNvSpPr txBox="1"/>
          <p:nvPr/>
        </p:nvSpPr>
        <p:spPr>
          <a:xfrm>
            <a:off x="5184648" y="1280160"/>
            <a:ext cx="4297680" cy="411480"/>
          </a:xfrm>
          <a:prstGeom prst="rect">
            <a:avLst/>
          </a:prstGeom>
          <a:noFill/>
        </p:spPr>
        <p:txBody>
          <a:bodyPr wrap="square" lIns="0" rIns="0" tIns="0" bIns="0" anchor="t">
            <a:spAutoFit/>
          </a:bodyPr>
          <a:lstStyle/>
          <a:p>
            <a:pPr>
              <a:lnSpc>
                <a:spcPct val="115000"/>
              </a:lnSpc>
              <a:spcAft>
                <a:spcPts val="0"/>
              </a:spcAft>
            </a:pPr>
            <a:r>
              <a:rPr sz="2600" b="1">
                <a:solidFill>
                  <a:srgbClr val="0C2340"/>
                </a:solidFill>
                <a:latin typeface="Arial"/>
              </a:rPr>
              <a:t>25–40 profiles</a:t>
            </a:r>
          </a:p>
        </p:txBody>
      </p:sp>
      <p:sp>
        <p:nvSpPr>
          <p:cNvPr id="14" name="TextBox 13"/>
          <p:cNvSpPr txBox="1"/>
          <p:nvPr/>
        </p:nvSpPr>
        <p:spPr>
          <a:xfrm>
            <a:off x="5184648" y="1810512"/>
            <a:ext cx="4389120" cy="32004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24 per page</a:t>
            </a:r>
          </a:p>
        </p:txBody>
      </p:sp>
      <p:pic>
        <p:nvPicPr>
          <p:cNvPr id="15" name="Picture 14" descr="size-24-top.png">
            <a:hlinkClick r:id="rId6"/>
          </p:cNvPr>
          <p:cNvPicPr>
            <a:picLocks noChangeAspect="1"/>
          </p:cNvPicPr>
          <p:nvPr/>
        </p:nvPicPr>
        <p:blipFill>
          <a:blip r:embed="rId4"/>
          <a:stretch>
            <a:fillRect/>
          </a:stretch>
        </p:blipFill>
        <p:spPr>
          <a:xfrm>
            <a:off x="5184648" y="2377440"/>
            <a:ext cx="4251960" cy="2253538"/>
          </a:xfrm>
          <a:prstGeom prst="rect">
            <a:avLst/>
          </a:prstGeom>
        </p:spPr>
      </p:pic>
      <p:sp>
        <p:nvSpPr>
          <p:cNvPr id="16" name="Rectangle 15"/>
          <p:cNvSpPr/>
          <p:nvPr/>
        </p:nvSpPr>
        <p:spPr>
          <a:xfrm>
            <a:off x="5184648" y="2377440"/>
            <a:ext cx="4251960" cy="2253538"/>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4648" y="5532120"/>
            <a:ext cx="4206240" cy="228600"/>
          </a:xfrm>
          <a:prstGeom prst="rect">
            <a:avLst/>
          </a:prstGeom>
          <a:noFill/>
        </p:spPr>
        <p:txBody>
          <a:bodyPr wrap="square" lIns="0" rIns="0" tIns="0" bIns="0" anchor="t">
            <a:spAutoFit/>
          </a:bodyPr>
          <a:lstStyle/>
          <a:p>
            <a:pPr>
              <a:lnSpc>
                <a:spcPct val="115000"/>
              </a:lnSpc>
              <a:spcAft>
                <a:spcPts val="0"/>
              </a:spcAft>
            </a:pPr>
            <a:r>
              <a:rPr sz="1000" b="1">
                <a:solidFill>
                  <a:srgbClr val="52616D"/>
                </a:solidFill>
                <a:latin typeface="Arial"/>
              </a:rPr>
              <a:t>BOTTOM OF THE LIST</a:t>
            </a:r>
          </a:p>
        </p:txBody>
      </p:sp>
      <p:pic>
        <p:nvPicPr>
          <p:cNvPr id="18" name="Picture 17" descr="size-40-bottom.png">
            <a:hlinkClick r:id="rId6"/>
          </p:cNvPr>
          <p:cNvPicPr>
            <a:picLocks noChangeAspect="1"/>
          </p:cNvPicPr>
          <p:nvPr/>
        </p:nvPicPr>
        <p:blipFill>
          <a:blip r:embed="rId7"/>
          <a:srcRect l="25000" r="25000" t="11538" b="19231"/>
          <a:stretch>
            <a:fillRect/>
          </a:stretch>
        </p:blipFill>
        <p:spPr>
          <a:xfrm>
            <a:off x="5184648" y="5925312"/>
            <a:ext cx="4251960" cy="765352"/>
          </a:xfrm>
          <a:prstGeom prst="rect">
            <a:avLst/>
          </a:prstGeom>
        </p:spPr>
      </p:pic>
      <p:sp>
        <p:nvSpPr>
          <p:cNvPr id="19" name="Rectangle 18"/>
          <p:cNvSpPr/>
          <p:nvPr/>
        </p:nvSpPr>
        <p:spPr>
          <a:xfrm>
            <a:off x="5184648" y="5925312"/>
            <a:ext cx="4251960" cy="765352"/>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8072" y="5879592"/>
            <a:ext cx="4325112" cy="85953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84648" y="6949440"/>
            <a:ext cx="4389120" cy="365760"/>
          </a:xfrm>
          <a:prstGeom prst="rect">
            <a:avLst/>
          </a:prstGeom>
          <a:noFill/>
        </p:spPr>
        <p:txBody>
          <a:bodyPr wrap="square" lIns="0" rIns="0" tIns="0" bIns="0" anchor="t">
            <a:spAutoFit/>
          </a:bodyPr>
          <a:lstStyle/>
          <a:p>
            <a:pPr>
              <a:lnSpc>
                <a:spcPct val="115000"/>
              </a:lnSpc>
              <a:spcAft>
                <a:spcPts val="0"/>
              </a:spcAft>
            </a:pPr>
            <a:r>
              <a:rPr sz="1200" b="1">
                <a:solidFill>
                  <a:srgbClr val="0C2340"/>
                </a:solidFill>
                <a:latin typeface="Arial"/>
              </a:rPr>
              <a:t>Numbered pagination below the grid</a:t>
            </a:r>
          </a:p>
        </p:txBody>
      </p:sp>
      <p:sp>
        <p:nvSpPr>
          <p:cNvPr id="22" name="TextBox 21"/>
          <p:cNvSpPr txBox="1"/>
          <p:nvPr/>
        </p:nvSpPr>
        <p:spPr>
          <a:xfrm>
            <a:off x="9912096" y="1280160"/>
            <a:ext cx="4297680" cy="411480"/>
          </a:xfrm>
          <a:prstGeom prst="rect">
            <a:avLst/>
          </a:prstGeom>
          <a:noFill/>
        </p:spPr>
        <p:txBody>
          <a:bodyPr wrap="square" lIns="0" rIns="0" tIns="0" bIns="0" anchor="t">
            <a:spAutoFit/>
          </a:bodyPr>
          <a:lstStyle/>
          <a:p>
            <a:pPr>
              <a:lnSpc>
                <a:spcPct val="115000"/>
              </a:lnSpc>
              <a:spcAft>
                <a:spcPts val="0"/>
              </a:spcAft>
            </a:pPr>
            <a:r>
              <a:rPr sz="2600" b="1">
                <a:solidFill>
                  <a:srgbClr val="0C2340"/>
                </a:solidFill>
                <a:latin typeface="Arial"/>
              </a:rPr>
              <a:t>More than 40 profiles</a:t>
            </a:r>
          </a:p>
        </p:txBody>
      </p:sp>
      <p:sp>
        <p:nvSpPr>
          <p:cNvPr id="23" name="TextBox 22"/>
          <p:cNvSpPr txBox="1"/>
          <p:nvPr/>
        </p:nvSpPr>
        <p:spPr>
          <a:xfrm>
            <a:off x="9912096" y="1810512"/>
            <a:ext cx="4389120" cy="32004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24 per page + search / filters</a:t>
            </a:r>
          </a:p>
        </p:txBody>
      </p:sp>
      <p:pic>
        <p:nvPicPr>
          <p:cNvPr id="24" name="Picture 23" descr="size-60-top.png">
            <a:hlinkClick r:id="rId9"/>
          </p:cNvPr>
          <p:cNvPicPr>
            <a:picLocks noChangeAspect="1"/>
          </p:cNvPicPr>
          <p:nvPr/>
        </p:nvPicPr>
        <p:blipFill>
          <a:blip r:embed="rId8"/>
          <a:stretch>
            <a:fillRect/>
          </a:stretch>
        </p:blipFill>
        <p:spPr>
          <a:xfrm>
            <a:off x="9912096" y="2377440"/>
            <a:ext cx="4251960" cy="2806293"/>
          </a:xfrm>
          <a:prstGeom prst="rect">
            <a:avLst/>
          </a:prstGeom>
        </p:spPr>
      </p:pic>
      <p:sp>
        <p:nvSpPr>
          <p:cNvPr id="25" name="Rectangle 24"/>
          <p:cNvSpPr/>
          <p:nvPr/>
        </p:nvSpPr>
        <p:spPr>
          <a:xfrm>
            <a:off x="9912096" y="2377440"/>
            <a:ext cx="4251960" cy="2806293"/>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12096" y="5532120"/>
            <a:ext cx="4206240" cy="228600"/>
          </a:xfrm>
          <a:prstGeom prst="rect">
            <a:avLst/>
          </a:prstGeom>
          <a:noFill/>
        </p:spPr>
        <p:txBody>
          <a:bodyPr wrap="square" lIns="0" rIns="0" tIns="0" bIns="0" anchor="t">
            <a:spAutoFit/>
          </a:bodyPr>
          <a:lstStyle/>
          <a:p>
            <a:pPr>
              <a:lnSpc>
                <a:spcPct val="115000"/>
              </a:lnSpc>
              <a:spcAft>
                <a:spcPts val="0"/>
              </a:spcAft>
            </a:pPr>
            <a:r>
              <a:rPr sz="1000" b="1">
                <a:solidFill>
                  <a:srgbClr val="52616D"/>
                </a:solidFill>
                <a:latin typeface="Arial"/>
              </a:rPr>
              <a:t>BOTTOM OF THE LIST</a:t>
            </a:r>
          </a:p>
        </p:txBody>
      </p:sp>
      <p:pic>
        <p:nvPicPr>
          <p:cNvPr id="27" name="Picture 26" descr="size-60-bottom.png">
            <a:hlinkClick r:id="rId9"/>
          </p:cNvPr>
          <p:cNvPicPr>
            <a:picLocks noChangeAspect="1"/>
          </p:cNvPicPr>
          <p:nvPr/>
        </p:nvPicPr>
        <p:blipFill>
          <a:blip r:embed="rId10"/>
          <a:srcRect l="25000" r="25000" t="11538" b="19231"/>
          <a:stretch>
            <a:fillRect/>
          </a:stretch>
        </p:blipFill>
        <p:spPr>
          <a:xfrm>
            <a:off x="9912096" y="5925312"/>
            <a:ext cx="4251960" cy="765352"/>
          </a:xfrm>
          <a:prstGeom prst="rect">
            <a:avLst/>
          </a:prstGeom>
        </p:spPr>
      </p:pic>
      <p:sp>
        <p:nvSpPr>
          <p:cNvPr id="28" name="Rectangle 27"/>
          <p:cNvSpPr/>
          <p:nvPr/>
        </p:nvSpPr>
        <p:spPr>
          <a:xfrm>
            <a:off x="9912096" y="5925312"/>
            <a:ext cx="4251960" cy="765352"/>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875520" y="5879592"/>
            <a:ext cx="4325112" cy="85953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12096" y="6949440"/>
            <a:ext cx="4389120" cy="365760"/>
          </a:xfrm>
          <a:prstGeom prst="rect">
            <a:avLst/>
          </a:prstGeom>
          <a:noFill/>
        </p:spPr>
        <p:txBody>
          <a:bodyPr wrap="square" lIns="0" rIns="0" tIns="0" bIns="0" anchor="t">
            <a:spAutoFit/>
          </a:bodyPr>
          <a:lstStyle/>
          <a:p>
            <a:pPr>
              <a:lnSpc>
                <a:spcPct val="115000"/>
              </a:lnSpc>
              <a:spcAft>
                <a:spcPts val="0"/>
              </a:spcAft>
            </a:pPr>
            <a:r>
              <a:rPr sz="1200" b="1">
                <a:solidFill>
                  <a:srgbClr val="0C2340"/>
                </a:solidFill>
                <a:latin typeface="Arial"/>
              </a:rPr>
              <a:t>Numbered pagination below the grid</a:t>
            </a:r>
          </a:p>
        </p:txBody>
      </p:sp>
      <p:sp>
        <p:nvSpPr>
          <p:cNvPr id="31" name="Rectangle 30"/>
          <p:cNvSpPr/>
          <p:nvPr/>
        </p:nvSpPr>
        <p:spPr>
          <a:xfrm>
            <a:off x="9875520" y="3063240"/>
            <a:ext cx="4325112" cy="1298448"/>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A category opens its default group</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Browse by group</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4 / 8</a:t>
            </a:r>
          </a:p>
        </p:txBody>
      </p:sp>
      <p:pic>
        <p:nvPicPr>
          <p:cNvPr id="8" name="Picture 7" descr="category.png">
            <a:hlinkClick r:id="rId2"/>
          </p:cNvPr>
          <p:cNvPicPr>
            <a:picLocks noChangeAspect="1"/>
          </p:cNvPicPr>
          <p:nvPr/>
        </p:nvPicPr>
        <p:blipFill>
          <a:blip r:embed="rId4"/>
          <a:stretch>
            <a:fillRect/>
          </a:stretch>
        </p:blipFill>
        <p:spPr>
          <a:xfrm>
            <a:off x="457200" y="1143000"/>
            <a:ext cx="9738360" cy="6086475"/>
          </a:xfrm>
          <a:prstGeom prst="rect">
            <a:avLst/>
          </a:prstGeom>
        </p:spPr>
      </p:pic>
      <p:sp>
        <p:nvSpPr>
          <p:cNvPr id="9" name="Rectangle 8"/>
          <p:cNvSpPr/>
          <p:nvPr/>
        </p:nvSpPr>
        <p:spPr>
          <a:xfrm>
            <a:off x="457200" y="1143000"/>
            <a:ext cx="9738360" cy="6086475"/>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03245" y="2750962"/>
            <a:ext cx="6637401" cy="558005"/>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79801" y="262751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Rectangle 11"/>
          <p:cNvSpPr/>
          <p:nvPr/>
        </p:nvSpPr>
        <p:spPr>
          <a:xfrm>
            <a:off x="912114" y="3075469"/>
            <a:ext cx="1930527" cy="992829"/>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88670" y="2952025"/>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4" name="Rectangle 13"/>
          <p:cNvSpPr/>
          <p:nvPr/>
        </p:nvSpPr>
        <p:spPr>
          <a:xfrm>
            <a:off x="3103245" y="3955049"/>
            <a:ext cx="1484185" cy="251888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79801" y="3831605"/>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6" name="Oval 15"/>
          <p:cNvSpPr/>
          <p:nvPr/>
        </p:nvSpPr>
        <p:spPr>
          <a:xfrm>
            <a:off x="10497312" y="15270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7" name="TextBox 16"/>
          <p:cNvSpPr txBox="1"/>
          <p:nvPr/>
        </p:nvSpPr>
        <p:spPr>
          <a:xfrm>
            <a:off x="10972800" y="15544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Just “Faculty”</a:t>
            </a:r>
          </a:p>
        </p:txBody>
      </p:sp>
      <p:sp>
        <p:nvSpPr>
          <p:cNvPr id="18" name="TextBox 17"/>
          <p:cNvSpPr txBox="1"/>
          <p:nvPr/>
        </p:nvSpPr>
        <p:spPr>
          <a:xfrm>
            <a:off x="10972800" y="213969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No lede.</a:t>
            </a:r>
          </a:p>
          <a:p>
            <a:pPr>
              <a:lnSpc>
                <a:spcPct val="115000"/>
              </a:lnSpc>
              <a:spcAft>
                <a:spcPts val="0"/>
              </a:spcAft>
            </a:pPr>
            <a:r>
              <a:rPr sz="1400" b="0">
                <a:solidFill>
                  <a:srgbClr val="52616D"/>
                </a:solidFill>
                <a:latin typeface="Arial"/>
              </a:rPr>
              <a:t>No repeated group heading.</a:t>
            </a:r>
          </a:p>
        </p:txBody>
      </p:sp>
      <p:sp>
        <p:nvSpPr>
          <p:cNvPr id="19" name="Oval 18"/>
          <p:cNvSpPr/>
          <p:nvPr/>
        </p:nvSpPr>
        <p:spPr>
          <a:xfrm>
            <a:off x="10497312" y="321868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20" name="TextBox 19"/>
          <p:cNvSpPr txBox="1"/>
          <p:nvPr/>
        </p:nvSpPr>
        <p:spPr>
          <a:xfrm>
            <a:off x="10972800" y="324612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Reveal its subgroups</a:t>
            </a:r>
          </a:p>
        </p:txBody>
      </p:sp>
      <p:sp>
        <p:nvSpPr>
          <p:cNvPr id="21" name="TextBox 20"/>
          <p:cNvSpPr txBox="1"/>
          <p:nvPr/>
        </p:nvSpPr>
        <p:spPr>
          <a:xfrm>
            <a:off x="10972800" y="3831335"/>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Other categories</a:t>
            </a:r>
          </a:p>
          <a:p>
            <a:pPr>
              <a:lnSpc>
                <a:spcPct val="115000"/>
              </a:lnSpc>
              <a:spcAft>
                <a:spcPts val="0"/>
              </a:spcAft>
            </a:pPr>
            <a:r>
              <a:rPr sz="1400" b="0">
                <a:solidFill>
                  <a:srgbClr val="52616D"/>
                </a:solidFill>
                <a:latin typeface="Arial"/>
              </a:rPr>
              <a:t>stay collapsed.</a:t>
            </a:r>
          </a:p>
        </p:txBody>
      </p:sp>
      <p:sp>
        <p:nvSpPr>
          <p:cNvPr id="22" name="Oval 21"/>
          <p:cNvSpPr/>
          <p:nvPr/>
        </p:nvSpPr>
        <p:spPr>
          <a:xfrm>
            <a:off x="10497312" y="49560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23" name="TextBox 22"/>
          <p:cNvSpPr txBox="1"/>
          <p:nvPr/>
        </p:nvSpPr>
        <p:spPr>
          <a:xfrm>
            <a:off x="10972800" y="49834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Show core affiliates</a:t>
            </a:r>
          </a:p>
        </p:txBody>
      </p:sp>
      <p:sp>
        <p:nvSpPr>
          <p:cNvPr id="24" name="TextBox 23"/>
          <p:cNvSpPr txBox="1"/>
          <p:nvPr/>
        </p:nvSpPr>
        <p:spPr>
          <a:xfrm>
            <a:off x="10972800" y="556869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No separate “Core”</a:t>
            </a:r>
          </a:p>
          <a:p>
            <a:pPr>
              <a:lnSpc>
                <a:spcPct val="115000"/>
              </a:lnSpc>
              <a:spcAft>
                <a:spcPts val="0"/>
              </a:spcAft>
            </a:pPr>
            <a:r>
              <a:rPr sz="1400" b="0">
                <a:solidFill>
                  <a:srgbClr val="52616D"/>
                </a:solidFill>
                <a:latin typeface="Arial"/>
              </a:rPr>
              <a:t>page or heading needed.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A school-hosted profile opens directly</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Profile destination 1</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5 / 8</a:t>
            </a:r>
          </a:p>
        </p:txBody>
      </p:sp>
      <p:pic>
        <p:nvPicPr>
          <p:cNvPr id="8" name="Picture 7" descr="external.png">
            <a:hlinkClick r:id="rId2"/>
          </p:cNvPr>
          <p:cNvPicPr>
            <a:picLocks noChangeAspect="1"/>
          </p:cNvPicPr>
          <p:nvPr/>
        </p:nvPicPr>
        <p:blipFill>
          <a:blip r:embed="rId4"/>
          <a:stretch>
            <a:fillRect/>
          </a:stretch>
        </p:blipFill>
        <p:spPr>
          <a:xfrm>
            <a:off x="457200" y="1325880"/>
            <a:ext cx="9738360" cy="5951220"/>
          </a:xfrm>
          <a:prstGeom prst="rect">
            <a:avLst/>
          </a:prstGeom>
        </p:spPr>
      </p:pic>
      <p:sp>
        <p:nvSpPr>
          <p:cNvPr id="9" name="Rectangle 8"/>
          <p:cNvSpPr/>
          <p:nvPr/>
        </p:nvSpPr>
        <p:spPr>
          <a:xfrm>
            <a:off x="457200" y="1325880"/>
            <a:ext cx="9738360" cy="5951220"/>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20318" y="5527780"/>
            <a:ext cx="1475872" cy="307467"/>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6874" y="5404336"/>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Oval 11"/>
          <p:cNvSpPr/>
          <p:nvPr/>
        </p:nvSpPr>
        <p:spPr>
          <a:xfrm>
            <a:off x="10497312" y="180136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3" name="TextBox 12"/>
          <p:cNvSpPr txBox="1"/>
          <p:nvPr/>
        </p:nvSpPr>
        <p:spPr>
          <a:xfrm>
            <a:off x="10972800" y="182880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The arrow signals</a:t>
            </a:r>
          </a:p>
          <a:p>
            <a:pPr>
              <a:lnSpc>
                <a:spcPct val="115000"/>
              </a:lnSpc>
              <a:spcAft>
                <a:spcPts val="0"/>
              </a:spcAft>
            </a:pPr>
            <a:r>
              <a:rPr sz="1800" b="1">
                <a:solidFill>
                  <a:srgbClr val="0C2340"/>
                </a:solidFill>
                <a:latin typeface="Arial"/>
              </a:rPr>
              <a:t>an offsite destination</a:t>
            </a:r>
          </a:p>
        </p:txBody>
      </p:sp>
      <p:sp>
        <p:nvSpPr>
          <p:cNvPr id="14" name="TextBox 13"/>
          <p:cNvSpPr txBox="1"/>
          <p:nvPr/>
        </p:nvSpPr>
        <p:spPr>
          <a:xfrm>
            <a:off x="10972800" y="241401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Clicking the name opens</a:t>
            </a:r>
          </a:p>
          <a:p>
            <a:pPr>
              <a:lnSpc>
                <a:spcPct val="115000"/>
              </a:lnSpc>
              <a:spcAft>
                <a:spcPts val="0"/>
              </a:spcAft>
            </a:pPr>
            <a:r>
              <a:rPr sz="1400" b="0">
                <a:solidFill>
                  <a:srgbClr val="52616D"/>
                </a:solidFill>
                <a:latin typeface="Arial"/>
              </a:rPr>
              <a:t>the school’s full profile.</a:t>
            </a:r>
          </a:p>
        </p:txBody>
      </p:sp>
      <p:sp>
        <p:nvSpPr>
          <p:cNvPr id="15" name="TextBox 14"/>
          <p:cNvSpPr txBox="1"/>
          <p:nvPr/>
        </p:nvSpPr>
        <p:spPr>
          <a:xfrm>
            <a:off x="10972800" y="4663440"/>
            <a:ext cx="3200400" cy="128016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No intermediate</a:t>
            </a:r>
          </a:p>
          <a:p>
            <a:pPr>
              <a:lnSpc>
                <a:spcPct val="115000"/>
              </a:lnSpc>
              <a:spcAft>
                <a:spcPts val="0"/>
              </a:spcAft>
            </a:pPr>
            <a:r>
              <a:rPr sz="1800" b="1">
                <a:solidFill>
                  <a:srgbClr val="0C2340"/>
                </a:solidFill>
                <a:latin typeface="Arial"/>
              </a:rPr>
              <a:t>institute bio page.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A full biography lives on the institute site</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Profile destination 2</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6 / 8</a:t>
            </a:r>
          </a:p>
        </p:txBody>
      </p:sp>
      <p:pic>
        <p:nvPicPr>
          <p:cNvPr id="8" name="Picture 7" descr="full.png">
            <a:hlinkClick r:id="rId2"/>
          </p:cNvPr>
          <p:cNvPicPr>
            <a:picLocks noChangeAspect="1"/>
          </p:cNvPicPr>
          <p:nvPr/>
        </p:nvPicPr>
        <p:blipFill>
          <a:blip r:embed="rId4"/>
          <a:stretch>
            <a:fillRect/>
          </a:stretch>
        </p:blipFill>
        <p:spPr>
          <a:xfrm>
            <a:off x="457200" y="1234440"/>
            <a:ext cx="7772400" cy="6514011"/>
          </a:xfrm>
          <a:prstGeom prst="rect">
            <a:avLst/>
          </a:prstGeom>
        </p:spPr>
      </p:pic>
      <p:sp>
        <p:nvSpPr>
          <p:cNvPr id="9" name="Rectangle 8"/>
          <p:cNvSpPr/>
          <p:nvPr/>
        </p:nvSpPr>
        <p:spPr>
          <a:xfrm>
            <a:off x="457200" y="1234440"/>
            <a:ext cx="7772400" cy="6514011"/>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655" y="1300863"/>
            <a:ext cx="7259029" cy="1248373"/>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94211" y="1177419"/>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Rectangle 11"/>
          <p:cNvSpPr/>
          <p:nvPr/>
        </p:nvSpPr>
        <p:spPr>
          <a:xfrm>
            <a:off x="617655" y="3088515"/>
            <a:ext cx="4752199" cy="2654807"/>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94211" y="2965071"/>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4" name="Rectangle 13"/>
          <p:cNvSpPr/>
          <p:nvPr/>
        </p:nvSpPr>
        <p:spPr>
          <a:xfrm>
            <a:off x="5631547" y="3088515"/>
            <a:ext cx="2245137" cy="391319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08103" y="2965071"/>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6" name="Oval 15"/>
          <p:cNvSpPr/>
          <p:nvPr/>
        </p:nvSpPr>
        <p:spPr>
          <a:xfrm>
            <a:off x="10497312" y="15270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7" name="TextBox 16"/>
          <p:cNvSpPr txBox="1"/>
          <p:nvPr/>
        </p:nvSpPr>
        <p:spPr>
          <a:xfrm>
            <a:off x="10972800" y="15544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Name + role</a:t>
            </a:r>
          </a:p>
        </p:txBody>
      </p:sp>
      <p:sp>
        <p:nvSpPr>
          <p:cNvPr id="18" name="Oval 17"/>
          <p:cNvSpPr/>
          <p:nvPr/>
        </p:nvSpPr>
        <p:spPr>
          <a:xfrm>
            <a:off x="10497312" y="294436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9" name="TextBox 18"/>
          <p:cNvSpPr txBox="1"/>
          <p:nvPr/>
        </p:nvSpPr>
        <p:spPr>
          <a:xfrm>
            <a:off x="10972800" y="297180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Full biography</a:t>
            </a:r>
          </a:p>
        </p:txBody>
      </p:sp>
      <p:sp>
        <p:nvSpPr>
          <p:cNvPr id="20" name="TextBox 19"/>
          <p:cNvSpPr txBox="1"/>
          <p:nvPr/>
        </p:nvSpPr>
        <p:spPr>
          <a:xfrm>
            <a:off x="10972800" y="355701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Maintained by the institute.</a:t>
            </a:r>
          </a:p>
        </p:txBody>
      </p:sp>
      <p:sp>
        <p:nvSpPr>
          <p:cNvPr id="21" name="Oval 20"/>
          <p:cNvSpPr/>
          <p:nvPr/>
        </p:nvSpPr>
        <p:spPr>
          <a:xfrm>
            <a:off x="10497312" y="468172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22" name="TextBox 21"/>
          <p:cNvSpPr txBox="1"/>
          <p:nvPr/>
        </p:nvSpPr>
        <p:spPr>
          <a:xfrm>
            <a:off x="10972800" y="470916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Photo + contact details</a:t>
            </a:r>
          </a:p>
        </p:txBody>
      </p:sp>
      <p:sp>
        <p:nvSpPr>
          <p:cNvPr id="23" name="TextBox 22"/>
          <p:cNvSpPr txBox="1"/>
          <p:nvPr/>
        </p:nvSpPr>
        <p:spPr>
          <a:xfrm>
            <a:off x="10972800" y="529437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Keep office and email</a:t>
            </a:r>
          </a:p>
          <a:p>
            <a:pPr>
              <a:lnSpc>
                <a:spcPct val="115000"/>
              </a:lnSpc>
              <a:spcAft>
                <a:spcPts val="0"/>
              </a:spcAft>
            </a:pPr>
            <a:r>
              <a:rPr sz="1400" b="0">
                <a:solidFill>
                  <a:srgbClr val="52616D"/>
                </a:solidFill>
                <a:latin typeface="Arial"/>
              </a:rPr>
              <a:t>with the portrait.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An abridged biography adds institute context</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Profile destination 3</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7 / 8</a:t>
            </a:r>
          </a:p>
        </p:txBody>
      </p:sp>
      <p:pic>
        <p:nvPicPr>
          <p:cNvPr id="8" name="Picture 7" descr="abridged.png">
            <a:hlinkClick r:id="rId2"/>
          </p:cNvPr>
          <p:cNvPicPr>
            <a:picLocks noChangeAspect="1"/>
          </p:cNvPicPr>
          <p:nvPr/>
        </p:nvPicPr>
        <p:blipFill>
          <a:blip r:embed="rId4"/>
          <a:stretch>
            <a:fillRect/>
          </a:stretch>
        </p:blipFill>
        <p:spPr>
          <a:xfrm>
            <a:off x="457200" y="1325880"/>
            <a:ext cx="9372600" cy="6516188"/>
          </a:xfrm>
          <a:prstGeom prst="rect">
            <a:avLst/>
          </a:prstGeom>
        </p:spPr>
      </p:pic>
      <p:sp>
        <p:nvSpPr>
          <p:cNvPr id="9" name="Rectangle 8"/>
          <p:cNvSpPr/>
          <p:nvPr/>
        </p:nvSpPr>
        <p:spPr>
          <a:xfrm>
            <a:off x="457200" y="1325880"/>
            <a:ext cx="9372600" cy="6516188"/>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7279" y="3568265"/>
            <a:ext cx="5717415" cy="2250948"/>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33835" y="3444821"/>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Rectangle 11"/>
          <p:cNvSpPr/>
          <p:nvPr/>
        </p:nvSpPr>
        <p:spPr>
          <a:xfrm>
            <a:off x="6703443" y="3568265"/>
            <a:ext cx="2694193" cy="430580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79999" y="3444821"/>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4" name="Rectangle 13"/>
          <p:cNvSpPr/>
          <p:nvPr/>
        </p:nvSpPr>
        <p:spPr>
          <a:xfrm>
            <a:off x="657279" y="5817689"/>
            <a:ext cx="2161545" cy="50655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3835" y="5694245"/>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6" name="Oval 15"/>
          <p:cNvSpPr/>
          <p:nvPr/>
        </p:nvSpPr>
        <p:spPr>
          <a:xfrm>
            <a:off x="10497312" y="157276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7" name="TextBox 16"/>
          <p:cNvSpPr txBox="1"/>
          <p:nvPr/>
        </p:nvSpPr>
        <p:spPr>
          <a:xfrm>
            <a:off x="10972800" y="160020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Short, institute-specific</a:t>
            </a:r>
          </a:p>
          <a:p>
            <a:pPr>
              <a:lnSpc>
                <a:spcPct val="115000"/>
              </a:lnSpc>
              <a:spcAft>
                <a:spcPts val="0"/>
              </a:spcAft>
            </a:pPr>
            <a:r>
              <a:rPr sz="1800" b="1">
                <a:solidFill>
                  <a:srgbClr val="0C2340"/>
                </a:solidFill>
                <a:latin typeface="Arial"/>
              </a:rPr>
              <a:t>biography</a:t>
            </a:r>
          </a:p>
        </p:txBody>
      </p:sp>
      <p:sp>
        <p:nvSpPr>
          <p:cNvPr id="18" name="Oval 17"/>
          <p:cNvSpPr/>
          <p:nvPr/>
        </p:nvSpPr>
        <p:spPr>
          <a:xfrm>
            <a:off x="10497312" y="326440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9" name="TextBox 18"/>
          <p:cNvSpPr txBox="1"/>
          <p:nvPr/>
        </p:nvSpPr>
        <p:spPr>
          <a:xfrm>
            <a:off x="10972800" y="329184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Photo + office + email</a:t>
            </a:r>
          </a:p>
        </p:txBody>
      </p:sp>
      <p:sp>
        <p:nvSpPr>
          <p:cNvPr id="20" name="Oval 19"/>
          <p:cNvSpPr/>
          <p:nvPr/>
        </p:nvSpPr>
        <p:spPr>
          <a:xfrm>
            <a:off x="10497312" y="47274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21" name="TextBox 20"/>
          <p:cNvSpPr txBox="1"/>
          <p:nvPr/>
        </p:nvSpPr>
        <p:spPr>
          <a:xfrm>
            <a:off x="10972800" y="47548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Button to the full bio</a:t>
            </a:r>
          </a:p>
        </p:txBody>
      </p:sp>
      <p:sp>
        <p:nvSpPr>
          <p:cNvPr id="22" name="TextBox 21"/>
          <p:cNvSpPr txBox="1"/>
          <p:nvPr/>
        </p:nvSpPr>
        <p:spPr>
          <a:xfrm>
            <a:off x="10972800" y="534009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Hosted outside the</a:t>
            </a:r>
          </a:p>
          <a:p>
            <a:pPr>
              <a:lnSpc>
                <a:spcPct val="115000"/>
              </a:lnSpc>
              <a:spcAft>
                <a:spcPts val="0"/>
              </a:spcAft>
            </a:pPr>
            <a:r>
              <a:rPr sz="1400" b="0">
                <a:solidFill>
                  <a:srgbClr val="52616D"/>
                </a:solidFill>
                <a:latin typeface="Arial"/>
              </a:rPr>
              <a:t>Keough School website.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Past affiliation can be a simple list</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Historical listings</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8 / 8</a:t>
            </a:r>
          </a:p>
        </p:txBody>
      </p:sp>
      <p:sp>
        <p:nvSpPr>
          <p:cNvPr id="8" name="TextBox 7"/>
          <p:cNvSpPr txBox="1"/>
          <p:nvPr/>
        </p:nvSpPr>
        <p:spPr>
          <a:xfrm>
            <a:off x="502920" y="1234440"/>
            <a:ext cx="6217920" cy="411480"/>
          </a:xfrm>
          <a:prstGeom prst="rect">
            <a:avLst/>
          </a:prstGeom>
          <a:noFill/>
        </p:spPr>
        <p:txBody>
          <a:bodyPr wrap="square" lIns="0" rIns="0" tIns="0" bIns="0" anchor="t">
            <a:spAutoFit/>
          </a:bodyPr>
          <a:lstStyle/>
          <a:p>
            <a:pPr>
              <a:lnSpc>
                <a:spcPct val="115000"/>
              </a:lnSpc>
              <a:spcAft>
                <a:spcPts val="0"/>
              </a:spcAft>
            </a:pPr>
            <a:r>
              <a:rPr sz="2200" b="1">
                <a:solidFill>
                  <a:srgbClr val="0C2340"/>
                </a:solidFill>
                <a:latin typeface="Arial"/>
              </a:rPr>
              <a:t>Names only</a:t>
            </a:r>
          </a:p>
        </p:txBody>
      </p:sp>
      <p:sp>
        <p:nvSpPr>
          <p:cNvPr id="9" name="TextBox 8"/>
          <p:cNvSpPr txBox="1"/>
          <p:nvPr/>
        </p:nvSpPr>
        <p:spPr>
          <a:xfrm>
            <a:off x="7589520" y="1234440"/>
            <a:ext cx="6400800" cy="411480"/>
          </a:xfrm>
          <a:prstGeom prst="rect">
            <a:avLst/>
          </a:prstGeom>
          <a:noFill/>
        </p:spPr>
        <p:txBody>
          <a:bodyPr wrap="square" lIns="0" rIns="0" tIns="0" bIns="0" anchor="t">
            <a:spAutoFit/>
          </a:bodyPr>
          <a:lstStyle/>
          <a:p>
            <a:pPr>
              <a:lnSpc>
                <a:spcPct val="115000"/>
              </a:lnSpc>
              <a:spcAft>
                <a:spcPts val="0"/>
              </a:spcAft>
            </a:pPr>
            <a:r>
              <a:rPr sz="2200" b="1">
                <a:solidFill>
                  <a:srgbClr val="0C2340"/>
                </a:solidFill>
                <a:latin typeface="Arial"/>
              </a:rPr>
              <a:t>Images + names</a:t>
            </a:r>
          </a:p>
        </p:txBody>
      </p:sp>
      <p:pic>
        <p:nvPicPr>
          <p:cNvPr id="10" name="Picture 9" descr="names.png">
            <a:hlinkClick r:id="rId2"/>
          </p:cNvPr>
          <p:cNvPicPr>
            <a:picLocks noChangeAspect="1"/>
          </p:cNvPicPr>
          <p:nvPr/>
        </p:nvPicPr>
        <p:blipFill>
          <a:blip r:embed="rId4"/>
          <a:stretch>
            <a:fillRect/>
          </a:stretch>
        </p:blipFill>
        <p:spPr>
          <a:xfrm>
            <a:off x="502920" y="1874519"/>
            <a:ext cx="6492240" cy="3570732"/>
          </a:xfrm>
          <a:prstGeom prst="rect">
            <a:avLst/>
          </a:prstGeom>
        </p:spPr>
      </p:pic>
      <p:sp>
        <p:nvSpPr>
          <p:cNvPr id="11" name="Rectangle 10"/>
          <p:cNvSpPr/>
          <p:nvPr/>
        </p:nvSpPr>
        <p:spPr>
          <a:xfrm>
            <a:off x="502920" y="1874519"/>
            <a:ext cx="6492240" cy="3570732"/>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s.png">
            <a:hlinkClick r:id="rId6"/>
          </p:cNvPr>
          <p:cNvPicPr>
            <a:picLocks noChangeAspect="1"/>
          </p:cNvPicPr>
          <p:nvPr/>
        </p:nvPicPr>
        <p:blipFill>
          <a:blip r:embed="rId5"/>
          <a:stretch>
            <a:fillRect/>
          </a:stretch>
        </p:blipFill>
        <p:spPr>
          <a:xfrm>
            <a:off x="7589520" y="1874519"/>
            <a:ext cx="6492240" cy="5193792"/>
          </a:xfrm>
          <a:prstGeom prst="rect">
            <a:avLst/>
          </a:prstGeom>
        </p:spPr>
      </p:pic>
      <p:sp>
        <p:nvSpPr>
          <p:cNvPr id="13" name="Rectangle 12"/>
          <p:cNvSpPr/>
          <p:nvPr/>
        </p:nvSpPr>
        <p:spPr>
          <a:xfrm>
            <a:off x="7589520" y="1874519"/>
            <a:ext cx="6492240" cy="5193792"/>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7269480"/>
            <a:ext cx="13578840" cy="47548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7370064"/>
            <a:ext cx="12801600" cy="256032"/>
          </a:xfrm>
          <a:prstGeom prst="rect">
            <a:avLst/>
          </a:prstGeom>
          <a:noFill/>
        </p:spPr>
        <p:txBody>
          <a:bodyPr wrap="square" lIns="0" rIns="0" tIns="0" bIns="0" anchor="t">
            <a:spAutoFit/>
          </a:bodyPr>
          <a:lstStyle/>
          <a:p>
            <a:pPr>
              <a:lnSpc>
                <a:spcPct val="115000"/>
              </a:lnSpc>
              <a:spcAft>
                <a:spcPts val="0"/>
              </a:spcAft>
            </a:pPr>
            <a:r>
              <a:rPr sz="1600" b="1">
                <a:solidFill>
                  <a:srgbClr val="FFFFFF"/>
                </a:solidFill>
                <a:latin typeface="Arial"/>
              </a:rPr>
              <a:t>No profile links.  No biography to keep current.  Names and affiliations still need to be accurate.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People directories: a visual guide for institute communicators</dc:title>
  <dc:subject>Proposed standards — screenshot-led draft for feedback</dc:subject>
  <dc:creator>Keough School of Global Affairs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